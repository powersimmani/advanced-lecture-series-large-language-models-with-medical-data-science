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Advanced Medical LLMs:
Transforming Healthcare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20-Lecture Comprehensive Course
Introduction to Biomedical Data Science
Fall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Lecture 01 -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Part 1: Medical AI Revolution
Part 2: State-of-the-Art Models
Part 3: Real-World Deployments
Hands-on: Environment Setup and 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Course Overview and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📚 Learning Objectives:
• Understand medical LLM architectures
• Master clinical NLP techniques
• Deploy healthcare AI systems
• Ensure HIPAA compliance
📋 Prerequisites:
• Python programming
• Machine learning basics
• Medical terminology
• Neural networks fundamentals
📊 Assessment: Project (40%), Assignments (30%), Exam (30%)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4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Part 1: The Medical AI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1. Evolution from Rule-Based Systems to LLMs
2. GPT-4, Claude, and Gemini in Healthcare
3. Medical vs General-Purpose LLMs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Evolution From Rule-Based to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📊 Rule-Based (1970s-1990s)
• Expert systems, Decision trees
• Limitation: Cannot handle uncertainty
📈 Statistical ML (2000s-2010s)
• SVM, Random Forest, Naive Bayes
• Limitation: Feature engineering required
🧠 Deep Learning (2010s-2020)
• CNN, RNN, LSTM, Attention
• Limitation: Task-specific, large labeled data
🚀 Large LLMs (2020s-Present)
• Transformers, Self-attention
• Strength: Few-shot learning, broad knowledge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GPT-4, Claude, and Gemini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GPT-4: 87% accuracy
• Medical reasoning
• 1.7T+ parameters
Claude: 85% accuracy
• Safety &amp; ethics focus
• Constitutional AI
Gemini: 90% accuracy
• Multimodal capabilities
• Text + Image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Medical vs General-Purpose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🏥 Medical LLMs:
• Domain-specific knowledge
• Clinical safety protocols
• HIPAA/regulatory compliance
• Medical terminology precision
• Evidence-based responses
🌐 General-Purpose LLMs:
• Broad knowledge coverage
• Creative problem-solving
• Multi-domain versatility
• General reasoning ability
• Larger training datasets
🔄 Common Ground: Language understanding, contextual reasoning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Key Medical AI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🔒 Data Privacy - Critical Risk
HIPAA compliance, patient data protection
⚠️ Medical Errors - High Risk
Hallucinations, incorrect diagnoses, liability
📋 Regulatory Approval - High Complexity
FDA clearance, clinical validation
🔍 Explainability - Medium Risk
Model interpretability, decision transparency
⚖️ Bias &amp; Fairness - High Risk
Demographic bias, equitable healthcare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HIPAA Privacy and Data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🔒 18 PHI Identifiers:
• Names, SSN, Addresses
• Medical Records, Dates
• Phone Numbers, Email
• IP Address, Biometric IDs, Photos
🛡️ Security Requirements:
• End-to-end encryption (AES-256)
• Access control &amp; authentication
• Audit logging &amp; monitoring
• Data de-identification
• Secure data transmission (TLS)
⚖️ Compliance Checklist:
Privacy Notice, Data Backup, Incident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Clinical NLP Task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🔍 Named Entity Recognition
Identify diseases, medications, symptoms
🔗 Relation Extraction
Find relationships between medical entities
⏰ Temporal Expression
Normalize time expressions and sequences
❌ Negation Detection
Identify negated medical concepts
🏷️ Medical Code Mapping
Map text to ICD-10, CPT, SNOMED codes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Diagnosis Generation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Pipeline Process:
📋 Input
Symptoms, lab results, patient history
↓
🧠 Processing
LLM reasoning engine, knowledge retrieval
↓
📊 Output
Differential diagnosis, probabilities, evidence
Example Output:
1. Community-Acquired Pneumonia - 78%
2. Acute Bronchitis - 15%
3. Viral Upper Respiratory Infection - 7%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Medical Knowledge Graph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Knowledge Graph Components:
• Disease → causes → Symptom
• Drug → treats → Disease
• Gene → associated → Disease
• Procedure → requires → Disease
📊 Scale:
• 2.8M UMLS Concepts
• 15M+ Relationships
🔧 Graph Embedding:
• TransE, TransR for relations
• Node2Vec for embeddings
• Graph Attention Networks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4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Part 2: State-of-the-Art Medical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🏥 MedPaLM 2
🐊 GatorTron
🧬 BioGPT
📚 PubMedGPT
🩻 RadBERT
🔬 PathLLM
🎭 Multimodal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MedPaLM 2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📊 540B parameters
🏗️ Flan-PaLM based
✅ 86.5% on MedQA
Key Features:
🎯 Instruction fine-tuning on medical tasks
💡 Medical domain adaptation
🚀 Few-shot clinical reasoning
🛡️ Safety-focused design
Architecture Layers:
1. Medical Query Input
2. Flan-PaLM Base Model (540B parameters)
3. Medical Domain Adaptation
4. Instruction Fine-tuning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GatorTron - Clinical 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8.9B Parameter Clinical Language Model
Trained on 90 billion words from UF Health clinical notes
Performance Metrics:
• NER Performance: 96% F1 Score
• Relation Extraction: 94% F1 Score
• Parameters: 8.9B (Largest clinical model)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BioGPT vs PubMedGPT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BioGPT (1.5B Parameters):
• Focus: General biomedical text generation
• Training: PubMed abstracts (15M documents)
• Strengths: Question answering, summarization
• Speed: Faster inference time
PubMedGPT (2.7B Parameters):
• Focus: Medical literature specialization
• Training: Full PubMed papers (3M+ full text)
• Strengths: Scientific writing, detailed analysis
• Depth: More comprehensive knowledge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Multimodal Medical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Modality Types:
📝➕📷 Text + Image
• Radiology reports with X-rays, CT, MRI
📝➕📊 Text + Signal
• ECG, EEG, waveform analysis
📝➕🎥 Text + Video
• Surgical procedures, endoscopy
🔗 Fusion Strategies:
• Early Fusion: Concatenate before encoding
• Late Fusion: Combine after processing
• Cross-Attention: Attention mechanisms
• Joint Space: Shared embedding space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RadBERT - Radiology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🩻 RadBERT
Radiology Applications
📊 4.7M radiology reports
✓ Chest X-ray abnormality detection: 94% AUC
✓ Automated report generation
✓ Finding classification &amp; localization
✓ Report quality assessment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PathLLM - Digital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🔬 PathLLM
Digital Pathology
📊 Whole Slide Image (WSI) processing
✓ Cancer grading &amp; classification
✓ Cell counting &amp; detection
✓ Tissue segmentation
✓ Histopathology report generation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4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Part 3: Real-World Clinical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🏥 Hospital Case Studies
🚨 Emergency Department Applications
📊 Clinical Decision Support
✅ FDA Approved Systems
💰 ROI 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Mayo Clinic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📅 Deployment Year: 2021
Scale: 3M patients annually
Key Result: 15% diagnosis accuracy improvement
✨ Key Achievements:
✓ 30% physician time saved
✓ 3-year payback period
✓ Enhanced clinical workflows and patient outcomes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Stanford Healthcare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📅 Deployment Year: 2022
System: Epic EHR integration
Key Result: 47% medication error reduction
✨ Key Achievements:
✓ Real-time clinical decision support
✓ Improved patient safety
✓ Enhanced clinical workflows and patient outcomes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Emergency Department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🚨 Emergency Department Triage
23 min average wait time reduction
92% priority accuracy
ESI level prediction
Real-time risk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Clinical Decision Support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💡 Clinical Decision Support Systems
Drug interaction alerts
Evidence-based guidelines
Lab test optimization
Risk score calculation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FDA Approved AI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✅ FDA Approved AI Systems
520+ FDA cleared devices
IDx-DR (diabetic retinopathy)
Caption Health (echocardiography)
Rapid regulatory growth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Performance Metrics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📊 Performance Metrics &amp; Benchmarks
MedQA: 87% accuracy
PubMedQA: 78% F1
MMLU-Medical: 91%
AUROC, Sensitivity, Specificity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Cost-Benefit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💰 Cost-Benefit Analysis
Initial: $2M investment
Operating: $500K/year
Savings: $3M/year (error reduction)
ROI: 250% over 3 years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🚀 Future Directions &amp;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🧬 Personalized Medicine
Genomic data integration, tailored treatment plans
⏱️ Real-time Monitoring
Wearable integration, continuous health tracking
💊 Drug Discovery
Accelerated compound identification, clinical trials
🔬 Precision Surgery
AI-assisted robotics, real-time guidance
🛡️ Preventive Medicine
Early disease detection, risk prediction
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E64C8"/>
                </a:solidFill>
              </a:rPr>
              <a:t>⚙️ Hands-On 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📦 Required Software:
✓ Python 3.9+
✓ PyTorch 2.0
✓ Transformers 4.30
✓ Docker Desktop
✓ CUDA 11.8+ (GPU)
✓ Jupyter Notebook
# Installation Commands
pip install torch transformers datasets
pip install huggingface_hub accelerate
pip install pandas numpy scikit-learn
pip install jupyter notebook
# Verify Installation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4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Thank You!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📝 Assignment: Medical QA System
🎯 Task: Build a medical question-answering system
📊 Dataset: MedQA or PubMedQA (provided)
⏰ Deadline: 2 weeks
📋 Evaluation: Accuracy, code quality, documentation
Questions? Contact your instructor
📧 instructor@university.edu
Next Lecture: Fine-tuning Medical LLMs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