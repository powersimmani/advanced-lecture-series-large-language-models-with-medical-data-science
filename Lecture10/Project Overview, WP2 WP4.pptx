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5" r:id="rId3"/>
    <p:sldId id="278" r:id="rId4"/>
    <p:sldId id="267" r:id="rId5"/>
    <p:sldId id="277" r:id="rId6"/>
    <p:sldId id="268" r:id="rId7"/>
    <p:sldId id="269" r:id="rId8"/>
    <p:sldId id="281" r:id="rId9"/>
    <p:sldId id="280" r:id="rId10"/>
    <p:sldId id="282" r:id="rId11"/>
    <p:sldId id="275" r:id="rId12"/>
    <p:sldId id="271" r:id="rId13"/>
    <p:sldId id="276" r:id="rId14"/>
    <p:sldId id="283" r:id="rId15"/>
    <p:sldId id="284" r:id="rId16"/>
    <p:sldId id="27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90315" autoAdjust="0"/>
  </p:normalViewPr>
  <p:slideViewPr>
    <p:cSldViewPr snapToGrid="0">
      <p:cViewPr varScale="1">
        <p:scale>
          <a:sx n="100" d="100"/>
          <a:sy n="100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s://biosig.lab.uq.edu.au/csm_peptides/" TargetMode="External"/><Relationship Id="rId3" Type="http://schemas.openxmlformats.org/officeDocument/2006/relationships/hyperlink" Target="https://webs.iiitd.edu.in/raghava/algpred2/" TargetMode="External"/><Relationship Id="rId7" Type="http://schemas.openxmlformats.org/officeDocument/2006/relationships/hyperlink" Target="https://balalab-skku.org/peptidebased/" TargetMode="External"/><Relationship Id="rId2" Type="http://schemas.openxmlformats.org/officeDocument/2006/relationships/hyperlink" Target="https://webs.iiitd.edu.in/raghava/toxinpred/index.html" TargetMode="External"/><Relationship Id="rId1" Type="http://schemas.openxmlformats.org/officeDocument/2006/relationships/hyperlink" Target="http://distilldeep.ucd.ie/PeptideRanker/" TargetMode="External"/><Relationship Id="rId6" Type="http://schemas.openxmlformats.org/officeDocument/2006/relationships/hyperlink" Target="https://nepc2pvmzy.us-east-1.awsapprunner.com/" TargetMode="External"/><Relationship Id="rId5" Type="http://schemas.openxmlformats.org/officeDocument/2006/relationships/hyperlink" Target="https://lmmd.ecust.edu.cn/admetsar1/home/" TargetMode="External"/><Relationship Id="rId4" Type="http://schemas.openxmlformats.org/officeDocument/2006/relationships/hyperlink" Target="https://admet.scbdd.com/home/index/" TargetMode="External"/><Relationship Id="rId9" Type="http://schemas.openxmlformats.org/officeDocument/2006/relationships/hyperlink" Target="https://sqzujiduce.us-east-1.awsapprunner.com/" TargetMode="Externa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hyperlink" Target="https://biosig.lab.uq.edu.au/csm_peptides/" TargetMode="External"/><Relationship Id="rId3" Type="http://schemas.openxmlformats.org/officeDocument/2006/relationships/hyperlink" Target="https://webs.iiitd.edu.in/raghava/algpred2/" TargetMode="External"/><Relationship Id="rId7" Type="http://schemas.openxmlformats.org/officeDocument/2006/relationships/hyperlink" Target="https://balalab-skku.org/peptidebased/" TargetMode="External"/><Relationship Id="rId2" Type="http://schemas.openxmlformats.org/officeDocument/2006/relationships/hyperlink" Target="https://webs.iiitd.edu.in/raghava/toxinpred/index.html" TargetMode="External"/><Relationship Id="rId1" Type="http://schemas.openxmlformats.org/officeDocument/2006/relationships/hyperlink" Target="http://distilldeep.ucd.ie/PeptideRanker/" TargetMode="External"/><Relationship Id="rId6" Type="http://schemas.openxmlformats.org/officeDocument/2006/relationships/hyperlink" Target="https://nepc2pvmzy.us-east-1.awsapprunner.com/" TargetMode="External"/><Relationship Id="rId5" Type="http://schemas.openxmlformats.org/officeDocument/2006/relationships/hyperlink" Target="https://lmmd.ecust.edu.cn/admetsar1/home/" TargetMode="External"/><Relationship Id="rId4" Type="http://schemas.openxmlformats.org/officeDocument/2006/relationships/hyperlink" Target="https://admet.scbdd.com/home/index/" TargetMode="External"/><Relationship Id="rId9" Type="http://schemas.openxmlformats.org/officeDocument/2006/relationships/hyperlink" Target="https://sqzujiduce.us-east-1.awsapprunner.com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biosig.lab.uq.edu.au/csm_peptides/" TargetMode="External"/><Relationship Id="rId3" Type="http://schemas.openxmlformats.org/officeDocument/2006/relationships/hyperlink" Target="https://webs.iiitd.edu.in/raghava/algpred2/" TargetMode="External"/><Relationship Id="rId7" Type="http://schemas.openxmlformats.org/officeDocument/2006/relationships/hyperlink" Target="https://balalab-skku.org/peptidebased/" TargetMode="External"/><Relationship Id="rId2" Type="http://schemas.openxmlformats.org/officeDocument/2006/relationships/hyperlink" Target="https://webs.iiitd.edu.in/raghava/toxinpred/index.html" TargetMode="External"/><Relationship Id="rId1" Type="http://schemas.openxmlformats.org/officeDocument/2006/relationships/hyperlink" Target="http://distilldeep.ucd.ie/PeptideRanker/" TargetMode="External"/><Relationship Id="rId6" Type="http://schemas.openxmlformats.org/officeDocument/2006/relationships/hyperlink" Target="https://nepc2pvmzy.us-east-1.awsapprunner.com/" TargetMode="External"/><Relationship Id="rId5" Type="http://schemas.openxmlformats.org/officeDocument/2006/relationships/hyperlink" Target="https://lmmd.ecust.edu.cn/admetsar1/home/" TargetMode="External"/><Relationship Id="rId4" Type="http://schemas.openxmlformats.org/officeDocument/2006/relationships/hyperlink" Target="https://admet.scbdd.com/home/index/" TargetMode="External"/><Relationship Id="rId9" Type="http://schemas.openxmlformats.org/officeDocument/2006/relationships/hyperlink" Target="https://sqzujiduce.us-east-1.awsapprunner.com/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hyperlink" Target="https://biosig.lab.uq.edu.au/csm_peptides/" TargetMode="External"/><Relationship Id="rId3" Type="http://schemas.openxmlformats.org/officeDocument/2006/relationships/hyperlink" Target="https://webs.iiitd.edu.in/raghava/algpred2/" TargetMode="External"/><Relationship Id="rId7" Type="http://schemas.openxmlformats.org/officeDocument/2006/relationships/hyperlink" Target="https://balalab-skku.org/peptidebased/" TargetMode="External"/><Relationship Id="rId2" Type="http://schemas.openxmlformats.org/officeDocument/2006/relationships/hyperlink" Target="https://webs.iiitd.edu.in/raghava/toxinpred/index.html" TargetMode="External"/><Relationship Id="rId1" Type="http://schemas.openxmlformats.org/officeDocument/2006/relationships/hyperlink" Target="http://distilldeep.ucd.ie/PeptideRanker/" TargetMode="External"/><Relationship Id="rId6" Type="http://schemas.openxmlformats.org/officeDocument/2006/relationships/hyperlink" Target="https://nepc2pvmzy.us-east-1.awsapprunner.com/" TargetMode="External"/><Relationship Id="rId5" Type="http://schemas.openxmlformats.org/officeDocument/2006/relationships/hyperlink" Target="https://lmmd.ecust.edu.cn/admetsar1/home/" TargetMode="External"/><Relationship Id="rId4" Type="http://schemas.openxmlformats.org/officeDocument/2006/relationships/hyperlink" Target="https://admet.scbdd.com/home/index/" TargetMode="External"/><Relationship Id="rId9" Type="http://schemas.openxmlformats.org/officeDocument/2006/relationships/hyperlink" Target="https://sqzujiduce.us-east-1.awsapprunner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FDB59A-0B42-4FD3-BB8E-066B8ECFBC17}" type="doc">
      <dgm:prSet loTypeId="urn:microsoft.com/office/officeart/2005/8/layout/hProcess7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A4F989EA-7F90-42D3-8DB2-3E8CF9EB952E}">
      <dgm:prSet phldrT="[Text]" custT="1"/>
      <dgm:spPr/>
      <dgm:t>
        <a:bodyPr/>
        <a:lstStyle/>
        <a:p>
          <a:r>
            <a:rPr lang="en-US" sz="1800" dirty="0"/>
            <a:t>Step 1</a:t>
          </a:r>
        </a:p>
      </dgm:t>
    </dgm:pt>
    <dgm:pt modelId="{FB0F0388-A14C-4F04-A342-C4EE2F2873C7}" type="parTrans" cxnId="{A892FC48-472F-45B2-AFE7-0174634ECF7C}">
      <dgm:prSet/>
      <dgm:spPr/>
      <dgm:t>
        <a:bodyPr/>
        <a:lstStyle/>
        <a:p>
          <a:endParaRPr lang="en-US"/>
        </a:p>
      </dgm:t>
    </dgm:pt>
    <dgm:pt modelId="{AFC9440A-EED7-489D-B28E-616CD6157812}" type="sibTrans" cxnId="{A892FC48-472F-45B2-AFE7-0174634ECF7C}">
      <dgm:prSet/>
      <dgm:spPr/>
      <dgm:t>
        <a:bodyPr/>
        <a:lstStyle/>
        <a:p>
          <a:endParaRPr lang="en-US"/>
        </a:p>
      </dgm:t>
    </dgm:pt>
    <dgm:pt modelId="{5B6F1FC8-06F5-4218-889C-6D6A0B8E5C6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PeptideRanker</a:t>
          </a:r>
          <a:endParaRPr lang="en-US" sz="2000" dirty="0"/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1"/>
            </a:rPr>
            <a:t>http://distilldeep.ucd.ie/PeptideRanker/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ToxinPred</a:t>
          </a:r>
          <a:endParaRPr lang="en-US" sz="2000" dirty="0"/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2"/>
            </a:rPr>
            <a:t>https://webs.iiitd.edu.in/raghava/toxinpred/index.html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AlgPred</a:t>
          </a:r>
          <a:r>
            <a:rPr lang="en-US" sz="2000" dirty="0"/>
            <a:t> 2.0</a:t>
          </a:r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3"/>
            </a:rPr>
            <a:t>https://webs.iiitd.edu.in/raghava/algpred2/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ADMETlab</a:t>
          </a:r>
          <a:r>
            <a:rPr lang="en-US" sz="2000" dirty="0"/>
            <a:t> 2.0 </a:t>
          </a:r>
          <a:r>
            <a:rPr lang="en-US" sz="1000" dirty="0">
              <a:hlinkClick xmlns:r="http://schemas.openxmlformats.org/officeDocument/2006/relationships" r:id="rId4"/>
            </a:rPr>
            <a:t>https://admet.scbdd.com/home/index/</a:t>
          </a:r>
          <a:r>
            <a:rPr lang="en-US" sz="2000" dirty="0"/>
            <a:t> /</a:t>
          </a:r>
          <a:r>
            <a:rPr lang="en-US" sz="2000" dirty="0" err="1"/>
            <a:t>admetSAR</a:t>
          </a:r>
          <a:r>
            <a:rPr lang="en-US" sz="200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5"/>
            </a:rPr>
            <a:t>https://lmmd.ecust.edu.cn/admetsar1/home/</a:t>
          </a:r>
          <a:endParaRPr lang="en-US" sz="1000" dirty="0"/>
        </a:p>
      </dgm:t>
    </dgm:pt>
    <dgm:pt modelId="{A97DF92C-035E-4399-94EE-6E93DD9423A3}" type="parTrans" cxnId="{961CDEFC-F903-400B-9235-9E60D41BE70C}">
      <dgm:prSet/>
      <dgm:spPr/>
      <dgm:t>
        <a:bodyPr/>
        <a:lstStyle/>
        <a:p>
          <a:endParaRPr lang="en-US"/>
        </a:p>
      </dgm:t>
    </dgm:pt>
    <dgm:pt modelId="{A1E79158-881E-4D99-A2F2-A67A2830F350}" type="sibTrans" cxnId="{961CDEFC-F903-400B-9235-9E60D41BE70C}">
      <dgm:prSet/>
      <dgm:spPr/>
      <dgm:t>
        <a:bodyPr/>
        <a:lstStyle/>
        <a:p>
          <a:endParaRPr lang="en-US"/>
        </a:p>
      </dgm:t>
    </dgm:pt>
    <dgm:pt modelId="{8028461E-408D-4084-A8B1-984BDD4AD40F}">
      <dgm:prSet phldrT="[Text]" custT="1"/>
      <dgm:spPr/>
      <dgm:t>
        <a:bodyPr/>
        <a:lstStyle/>
        <a:p>
          <a:r>
            <a:rPr lang="en-US" sz="1800" dirty="0"/>
            <a:t>Step 2</a:t>
          </a:r>
        </a:p>
      </dgm:t>
    </dgm:pt>
    <dgm:pt modelId="{C1C654AE-D9A2-4886-9B17-568F6C3FE5E2}" type="parTrans" cxnId="{68184B7A-F815-4079-BDD2-DB063C3279F5}">
      <dgm:prSet/>
      <dgm:spPr/>
      <dgm:t>
        <a:bodyPr/>
        <a:lstStyle/>
        <a:p>
          <a:endParaRPr lang="en-US"/>
        </a:p>
      </dgm:t>
    </dgm:pt>
    <dgm:pt modelId="{24DB1F34-29D5-4457-B580-A2788029A9EB}" type="sibTrans" cxnId="{68184B7A-F815-4079-BDD2-DB063C3279F5}">
      <dgm:prSet/>
      <dgm:spPr/>
      <dgm:t>
        <a:bodyPr/>
        <a:lstStyle/>
        <a:p>
          <a:endParaRPr lang="en-US"/>
        </a:p>
      </dgm:t>
    </dgm:pt>
    <dgm:pt modelId="{88ACEC61-B105-4A3E-A0F5-CE01620E3D0C}">
      <dgm:prSet phldrT="[Text]" custT="1"/>
      <dgm:spPr/>
      <dgm:t>
        <a:bodyPr/>
        <a:lstStyle/>
        <a:p>
          <a:r>
            <a:rPr lang="en-US" sz="1800" b="0" dirty="0"/>
            <a:t>UniDL4BioPep</a:t>
          </a:r>
        </a:p>
        <a:p>
          <a:r>
            <a:rPr lang="en-US" sz="1000" dirty="0">
              <a:hlinkClick xmlns:r="http://schemas.openxmlformats.org/officeDocument/2006/relationships" r:id="rId6"/>
            </a:rPr>
            <a:t>https://nepc2pvmzy.us-east-1.awsapprunner.com/</a:t>
          </a:r>
          <a:endParaRPr lang="en-US" sz="1000" b="0" dirty="0"/>
        </a:p>
        <a:p>
          <a:r>
            <a:rPr lang="en-US" sz="1800" b="0" dirty="0"/>
            <a:t>CBBL-SKKU peptide prediction tools</a:t>
          </a:r>
        </a:p>
        <a:p>
          <a:r>
            <a:rPr lang="en-US" sz="1000" dirty="0">
              <a:hlinkClick xmlns:r="http://schemas.openxmlformats.org/officeDocument/2006/relationships" r:id="rId7"/>
            </a:rPr>
            <a:t>https://balalab-skku.org/peptidebased/</a:t>
          </a:r>
          <a:endParaRPr lang="en-US" sz="1000" b="0" dirty="0"/>
        </a:p>
        <a:p>
          <a:r>
            <a:rPr lang="en-US" sz="1800" b="0" dirty="0"/>
            <a:t>CSM-peptides</a:t>
          </a:r>
        </a:p>
        <a:p>
          <a:r>
            <a:rPr lang="en-US" sz="1000" dirty="0">
              <a:hlinkClick xmlns:r="http://schemas.openxmlformats.org/officeDocument/2006/relationships" r:id="rId8"/>
            </a:rPr>
            <a:t>https://biosig.lab.uq.edu.au/csm_peptides/</a:t>
          </a:r>
          <a:endParaRPr lang="en-US" sz="1000" b="0" dirty="0"/>
        </a:p>
        <a:p>
          <a:r>
            <a:rPr lang="en-US" sz="1800" b="0" i="0" dirty="0"/>
            <a:t>pLM4ACE</a:t>
          </a:r>
        </a:p>
        <a:p>
          <a:r>
            <a:rPr lang="en-US" sz="1000" dirty="0">
              <a:hlinkClick xmlns:r="http://schemas.openxmlformats.org/officeDocument/2006/relationships" r:id="rId9"/>
            </a:rPr>
            <a:t>https://sqzujiduce.us-east-1.awsapprunner.com/</a:t>
          </a:r>
          <a:endParaRPr lang="en-US" sz="1000" b="0" i="0" dirty="0"/>
        </a:p>
      </dgm:t>
    </dgm:pt>
    <dgm:pt modelId="{0FEAC5FF-9953-499D-BEBF-A529A7B73853}" type="parTrans" cxnId="{9B8E4BCF-D907-46FF-9BB9-E8534384F9D8}">
      <dgm:prSet/>
      <dgm:spPr/>
      <dgm:t>
        <a:bodyPr/>
        <a:lstStyle/>
        <a:p>
          <a:endParaRPr lang="en-US"/>
        </a:p>
      </dgm:t>
    </dgm:pt>
    <dgm:pt modelId="{9B6A686D-9C5F-416E-987F-379522A84C7D}" type="sibTrans" cxnId="{9B8E4BCF-D907-46FF-9BB9-E8534384F9D8}">
      <dgm:prSet/>
      <dgm:spPr/>
      <dgm:t>
        <a:bodyPr/>
        <a:lstStyle/>
        <a:p>
          <a:endParaRPr lang="en-US"/>
        </a:p>
      </dgm:t>
    </dgm:pt>
    <dgm:pt modelId="{BB48CF69-44B9-4445-862A-1AE28223E2D9}">
      <dgm:prSet custT="1"/>
      <dgm:spPr/>
      <dgm:t>
        <a:bodyPr/>
        <a:lstStyle/>
        <a:p>
          <a:r>
            <a:rPr lang="en-US" sz="1800" dirty="0"/>
            <a:t>Step 3</a:t>
          </a:r>
        </a:p>
      </dgm:t>
    </dgm:pt>
    <dgm:pt modelId="{40D609D1-8CFC-4904-93D2-3DC035B80B97}" type="parTrans" cxnId="{6B4E954A-AA91-423B-BB3D-5A7CA0C07432}">
      <dgm:prSet/>
      <dgm:spPr/>
      <dgm:t>
        <a:bodyPr/>
        <a:lstStyle/>
        <a:p>
          <a:endParaRPr lang="en-US"/>
        </a:p>
      </dgm:t>
    </dgm:pt>
    <dgm:pt modelId="{292A0E0A-B240-41B9-8297-7F1D99BDDED2}" type="sibTrans" cxnId="{6B4E954A-AA91-423B-BB3D-5A7CA0C07432}">
      <dgm:prSet/>
      <dgm:spPr/>
      <dgm:t>
        <a:bodyPr/>
        <a:lstStyle/>
        <a:p>
          <a:endParaRPr lang="en-US"/>
        </a:p>
      </dgm:t>
    </dgm:pt>
    <dgm:pt modelId="{D6CC78D0-D5C4-4154-B69B-E6E8D0B8402B}">
      <dgm:prSet custT="1"/>
      <dgm:spPr/>
      <dgm:t>
        <a:bodyPr/>
        <a:lstStyle/>
        <a:p>
          <a:r>
            <a:rPr lang="en-US" sz="1800" dirty="0"/>
            <a:t>HDOCK/</a:t>
          </a:r>
          <a:r>
            <a:rPr lang="en-US" sz="1800" dirty="0" err="1"/>
            <a:t>PyMol</a:t>
          </a:r>
          <a:r>
            <a:rPr lang="en-US" sz="1800" dirty="0"/>
            <a:t>/</a:t>
          </a:r>
        </a:p>
        <a:p>
          <a:r>
            <a:rPr lang="en-US" sz="1800" dirty="0" err="1"/>
            <a:t>AutoDockVina</a:t>
          </a:r>
          <a:endParaRPr lang="en-US" sz="1800" dirty="0"/>
        </a:p>
        <a:p>
          <a:endParaRPr lang="en-US" sz="1800" dirty="0"/>
        </a:p>
        <a:p>
          <a:r>
            <a:rPr lang="en-US" sz="1800" dirty="0"/>
            <a:t>PDB/AlphaFold</a:t>
          </a:r>
        </a:p>
        <a:p>
          <a:endParaRPr lang="en-US" sz="1800" dirty="0"/>
        </a:p>
        <a:p>
          <a:r>
            <a:rPr lang="en-US" sz="1800" dirty="0" err="1"/>
            <a:t>ChemDraw</a:t>
          </a:r>
          <a:r>
            <a:rPr lang="en-US" sz="1800" dirty="0"/>
            <a:t>/</a:t>
          </a:r>
        </a:p>
        <a:p>
          <a:r>
            <a:rPr lang="en-US" sz="1800" dirty="0" err="1"/>
            <a:t>PepDraw</a:t>
          </a:r>
          <a:r>
            <a:rPr lang="en-US" sz="1800" dirty="0"/>
            <a:t>/</a:t>
          </a:r>
          <a:r>
            <a:rPr lang="en-US" sz="1800" dirty="0" err="1"/>
            <a:t>MolDraw</a:t>
          </a:r>
          <a:endParaRPr lang="en-US" sz="1800" dirty="0"/>
        </a:p>
        <a:p>
          <a:endParaRPr lang="en-US" sz="1800" dirty="0"/>
        </a:p>
        <a:p>
          <a:r>
            <a:rPr lang="en-US" sz="1800" dirty="0" err="1"/>
            <a:t>LigPlot</a:t>
          </a:r>
          <a:endParaRPr lang="en-US" sz="1800" dirty="0"/>
        </a:p>
      </dgm:t>
    </dgm:pt>
    <dgm:pt modelId="{88B576BF-6CFA-46F2-8B44-A923144CBB88}" type="parTrans" cxnId="{899B43B0-E706-4BCB-BBC6-E4BA7B24E028}">
      <dgm:prSet/>
      <dgm:spPr/>
      <dgm:t>
        <a:bodyPr/>
        <a:lstStyle/>
        <a:p>
          <a:endParaRPr lang="en-US"/>
        </a:p>
      </dgm:t>
    </dgm:pt>
    <dgm:pt modelId="{182C375F-6C62-4D38-9428-ADC67680E81B}" type="sibTrans" cxnId="{899B43B0-E706-4BCB-BBC6-E4BA7B24E028}">
      <dgm:prSet/>
      <dgm:spPr/>
      <dgm:t>
        <a:bodyPr/>
        <a:lstStyle/>
        <a:p>
          <a:endParaRPr lang="en-US"/>
        </a:p>
      </dgm:t>
    </dgm:pt>
    <dgm:pt modelId="{88BB810E-F3D5-4204-9986-73D3DA7E1C5C}" type="pres">
      <dgm:prSet presAssocID="{86FDB59A-0B42-4FD3-BB8E-066B8ECFBC17}" presName="Name0" presStyleCnt="0">
        <dgm:presLayoutVars>
          <dgm:dir/>
          <dgm:animLvl val="lvl"/>
          <dgm:resizeHandles val="exact"/>
        </dgm:presLayoutVars>
      </dgm:prSet>
      <dgm:spPr/>
    </dgm:pt>
    <dgm:pt modelId="{83F95C12-B73C-437C-A967-33D8219A66C1}" type="pres">
      <dgm:prSet presAssocID="{A4F989EA-7F90-42D3-8DB2-3E8CF9EB952E}" presName="compositeNode" presStyleCnt="0">
        <dgm:presLayoutVars>
          <dgm:bulletEnabled val="1"/>
        </dgm:presLayoutVars>
      </dgm:prSet>
      <dgm:spPr/>
    </dgm:pt>
    <dgm:pt modelId="{789E4DCA-2146-442C-B760-CCCDB1790FBE}" type="pres">
      <dgm:prSet presAssocID="{A4F989EA-7F90-42D3-8DB2-3E8CF9EB952E}" presName="bgRect" presStyleLbl="node1" presStyleIdx="0" presStyleCnt="3"/>
      <dgm:spPr/>
    </dgm:pt>
    <dgm:pt modelId="{9FA137FF-BF72-425D-B120-981715C28176}" type="pres">
      <dgm:prSet presAssocID="{A4F989EA-7F90-42D3-8DB2-3E8CF9EB952E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64158EFB-6528-4F4E-9C6D-35547F41B135}" type="pres">
      <dgm:prSet presAssocID="{A4F989EA-7F90-42D3-8DB2-3E8CF9EB952E}" presName="childNode" presStyleLbl="node1" presStyleIdx="0" presStyleCnt="3">
        <dgm:presLayoutVars>
          <dgm:bulletEnabled val="1"/>
        </dgm:presLayoutVars>
      </dgm:prSet>
      <dgm:spPr/>
    </dgm:pt>
    <dgm:pt modelId="{23892B95-6A59-4B07-B614-CCBA56E83407}" type="pres">
      <dgm:prSet presAssocID="{AFC9440A-EED7-489D-B28E-616CD6157812}" presName="hSp" presStyleCnt="0"/>
      <dgm:spPr/>
    </dgm:pt>
    <dgm:pt modelId="{6C8C1499-48B5-435A-BB33-F58D8415FA5C}" type="pres">
      <dgm:prSet presAssocID="{AFC9440A-EED7-489D-B28E-616CD6157812}" presName="vProcSp" presStyleCnt="0"/>
      <dgm:spPr/>
    </dgm:pt>
    <dgm:pt modelId="{31085A3C-AB19-4EBB-B2F1-644DE6B77837}" type="pres">
      <dgm:prSet presAssocID="{AFC9440A-EED7-489D-B28E-616CD6157812}" presName="vSp1" presStyleCnt="0"/>
      <dgm:spPr/>
    </dgm:pt>
    <dgm:pt modelId="{812E100A-B4D0-463F-9319-DE763AC06855}" type="pres">
      <dgm:prSet presAssocID="{AFC9440A-EED7-489D-B28E-616CD6157812}" presName="simulatedConn" presStyleLbl="solidFgAcc1" presStyleIdx="0" presStyleCnt="2"/>
      <dgm:spPr/>
    </dgm:pt>
    <dgm:pt modelId="{BFD0C840-E860-4FA5-9C30-4D61183D234F}" type="pres">
      <dgm:prSet presAssocID="{AFC9440A-EED7-489D-B28E-616CD6157812}" presName="vSp2" presStyleCnt="0"/>
      <dgm:spPr/>
    </dgm:pt>
    <dgm:pt modelId="{E452A27D-4F33-4557-8663-9D821641CBAE}" type="pres">
      <dgm:prSet presAssocID="{AFC9440A-EED7-489D-B28E-616CD6157812}" presName="sibTrans" presStyleCnt="0"/>
      <dgm:spPr/>
    </dgm:pt>
    <dgm:pt modelId="{26C42E49-EEF1-4992-9199-359F3644D731}" type="pres">
      <dgm:prSet presAssocID="{8028461E-408D-4084-A8B1-984BDD4AD40F}" presName="compositeNode" presStyleCnt="0">
        <dgm:presLayoutVars>
          <dgm:bulletEnabled val="1"/>
        </dgm:presLayoutVars>
      </dgm:prSet>
      <dgm:spPr/>
    </dgm:pt>
    <dgm:pt modelId="{3C6C1BC6-ADA8-4565-8876-8D44807575AB}" type="pres">
      <dgm:prSet presAssocID="{8028461E-408D-4084-A8B1-984BDD4AD40F}" presName="bgRect" presStyleLbl="node1" presStyleIdx="1" presStyleCnt="3"/>
      <dgm:spPr/>
    </dgm:pt>
    <dgm:pt modelId="{D8AE3D14-A6C6-4130-A3C3-7CAE97CB4E0A}" type="pres">
      <dgm:prSet presAssocID="{8028461E-408D-4084-A8B1-984BDD4AD40F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E8B191B-18B3-472A-946D-0959DB22D32D}" type="pres">
      <dgm:prSet presAssocID="{8028461E-408D-4084-A8B1-984BDD4AD40F}" presName="childNode" presStyleLbl="node1" presStyleIdx="1" presStyleCnt="3">
        <dgm:presLayoutVars>
          <dgm:bulletEnabled val="1"/>
        </dgm:presLayoutVars>
      </dgm:prSet>
      <dgm:spPr/>
    </dgm:pt>
    <dgm:pt modelId="{150143AD-60E2-4690-B91C-BA04FFA64CE1}" type="pres">
      <dgm:prSet presAssocID="{24DB1F34-29D5-4457-B580-A2788029A9EB}" presName="hSp" presStyleCnt="0"/>
      <dgm:spPr/>
    </dgm:pt>
    <dgm:pt modelId="{59AC97FF-6B67-47A0-A631-00EB54C23673}" type="pres">
      <dgm:prSet presAssocID="{24DB1F34-29D5-4457-B580-A2788029A9EB}" presName="vProcSp" presStyleCnt="0"/>
      <dgm:spPr/>
    </dgm:pt>
    <dgm:pt modelId="{035B2253-C5E6-4B36-A338-2234569AEAC3}" type="pres">
      <dgm:prSet presAssocID="{24DB1F34-29D5-4457-B580-A2788029A9EB}" presName="vSp1" presStyleCnt="0"/>
      <dgm:spPr/>
    </dgm:pt>
    <dgm:pt modelId="{6EC5D91F-5D54-44E3-ACD9-F40BC956A006}" type="pres">
      <dgm:prSet presAssocID="{24DB1F34-29D5-4457-B580-A2788029A9EB}" presName="simulatedConn" presStyleLbl="solidFgAcc1" presStyleIdx="1" presStyleCnt="2"/>
      <dgm:spPr/>
    </dgm:pt>
    <dgm:pt modelId="{5C559D0D-5281-4C18-A361-BB3D74C145F6}" type="pres">
      <dgm:prSet presAssocID="{24DB1F34-29D5-4457-B580-A2788029A9EB}" presName="vSp2" presStyleCnt="0"/>
      <dgm:spPr/>
    </dgm:pt>
    <dgm:pt modelId="{0895AA33-07CE-4D29-8C34-B02E44F4C02B}" type="pres">
      <dgm:prSet presAssocID="{24DB1F34-29D5-4457-B580-A2788029A9EB}" presName="sibTrans" presStyleCnt="0"/>
      <dgm:spPr/>
    </dgm:pt>
    <dgm:pt modelId="{9F244706-3164-4BEA-AB97-0AB9FC24234B}" type="pres">
      <dgm:prSet presAssocID="{BB48CF69-44B9-4445-862A-1AE28223E2D9}" presName="compositeNode" presStyleCnt="0">
        <dgm:presLayoutVars>
          <dgm:bulletEnabled val="1"/>
        </dgm:presLayoutVars>
      </dgm:prSet>
      <dgm:spPr/>
    </dgm:pt>
    <dgm:pt modelId="{CD00EFF7-5A40-4127-9CD5-4BA2DBCC2C93}" type="pres">
      <dgm:prSet presAssocID="{BB48CF69-44B9-4445-862A-1AE28223E2D9}" presName="bgRect" presStyleLbl="node1" presStyleIdx="2" presStyleCnt="3"/>
      <dgm:spPr/>
    </dgm:pt>
    <dgm:pt modelId="{980A317F-428A-4DF0-9228-88063167314F}" type="pres">
      <dgm:prSet presAssocID="{BB48CF69-44B9-4445-862A-1AE28223E2D9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4173EA6D-2E16-4DFB-BA00-C2C3CBDE06E5}" type="pres">
      <dgm:prSet presAssocID="{BB48CF69-44B9-4445-862A-1AE28223E2D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1CC89E06-C281-45D8-8398-48266EC3D468}" type="presOf" srcId="{8028461E-408D-4084-A8B1-984BDD4AD40F}" destId="{D8AE3D14-A6C6-4130-A3C3-7CAE97CB4E0A}" srcOrd="1" destOrd="0" presId="urn:microsoft.com/office/officeart/2005/8/layout/hProcess7"/>
    <dgm:cxn modelId="{D8B66A07-D1A3-4A33-868B-FB46A8D6B115}" type="presOf" srcId="{88ACEC61-B105-4A3E-A0F5-CE01620E3D0C}" destId="{2E8B191B-18B3-472A-946D-0959DB22D32D}" srcOrd="0" destOrd="0" presId="urn:microsoft.com/office/officeart/2005/8/layout/hProcess7"/>
    <dgm:cxn modelId="{4A84AF1A-4314-4A60-83FF-0138C988E146}" type="presOf" srcId="{A4F989EA-7F90-42D3-8DB2-3E8CF9EB952E}" destId="{789E4DCA-2146-442C-B760-CCCDB1790FBE}" srcOrd="0" destOrd="0" presId="urn:microsoft.com/office/officeart/2005/8/layout/hProcess7"/>
    <dgm:cxn modelId="{78689041-B76F-4132-ABCB-0DFA62F00CFC}" type="presOf" srcId="{D6CC78D0-D5C4-4154-B69B-E6E8D0B8402B}" destId="{4173EA6D-2E16-4DFB-BA00-C2C3CBDE06E5}" srcOrd="0" destOrd="0" presId="urn:microsoft.com/office/officeart/2005/8/layout/hProcess7"/>
    <dgm:cxn modelId="{A892FC48-472F-45B2-AFE7-0174634ECF7C}" srcId="{86FDB59A-0B42-4FD3-BB8E-066B8ECFBC17}" destId="{A4F989EA-7F90-42D3-8DB2-3E8CF9EB952E}" srcOrd="0" destOrd="0" parTransId="{FB0F0388-A14C-4F04-A342-C4EE2F2873C7}" sibTransId="{AFC9440A-EED7-489D-B28E-616CD6157812}"/>
    <dgm:cxn modelId="{6B4E954A-AA91-423B-BB3D-5A7CA0C07432}" srcId="{86FDB59A-0B42-4FD3-BB8E-066B8ECFBC17}" destId="{BB48CF69-44B9-4445-862A-1AE28223E2D9}" srcOrd="2" destOrd="0" parTransId="{40D609D1-8CFC-4904-93D2-3DC035B80B97}" sibTransId="{292A0E0A-B240-41B9-8297-7F1D99BDDED2}"/>
    <dgm:cxn modelId="{C5E5306E-E3EB-4274-B9EF-806A422E0DBF}" type="presOf" srcId="{A4F989EA-7F90-42D3-8DB2-3E8CF9EB952E}" destId="{9FA137FF-BF72-425D-B120-981715C28176}" srcOrd="1" destOrd="0" presId="urn:microsoft.com/office/officeart/2005/8/layout/hProcess7"/>
    <dgm:cxn modelId="{BA8A8978-8903-453D-800C-B33D692E1C59}" type="presOf" srcId="{BB48CF69-44B9-4445-862A-1AE28223E2D9}" destId="{980A317F-428A-4DF0-9228-88063167314F}" srcOrd="1" destOrd="0" presId="urn:microsoft.com/office/officeart/2005/8/layout/hProcess7"/>
    <dgm:cxn modelId="{68184B7A-F815-4079-BDD2-DB063C3279F5}" srcId="{86FDB59A-0B42-4FD3-BB8E-066B8ECFBC17}" destId="{8028461E-408D-4084-A8B1-984BDD4AD40F}" srcOrd="1" destOrd="0" parTransId="{C1C654AE-D9A2-4886-9B17-568F6C3FE5E2}" sibTransId="{24DB1F34-29D5-4457-B580-A2788029A9EB}"/>
    <dgm:cxn modelId="{A01E497C-4651-42AE-8076-89101FB5B75F}" type="presOf" srcId="{BB48CF69-44B9-4445-862A-1AE28223E2D9}" destId="{CD00EFF7-5A40-4127-9CD5-4BA2DBCC2C93}" srcOrd="0" destOrd="0" presId="urn:microsoft.com/office/officeart/2005/8/layout/hProcess7"/>
    <dgm:cxn modelId="{899B43B0-E706-4BCB-BBC6-E4BA7B24E028}" srcId="{BB48CF69-44B9-4445-862A-1AE28223E2D9}" destId="{D6CC78D0-D5C4-4154-B69B-E6E8D0B8402B}" srcOrd="0" destOrd="0" parTransId="{88B576BF-6CFA-46F2-8B44-A923144CBB88}" sibTransId="{182C375F-6C62-4D38-9428-ADC67680E81B}"/>
    <dgm:cxn modelId="{0BDC28C1-75EC-49C3-92E3-BA04116A393F}" type="presOf" srcId="{5B6F1FC8-06F5-4218-889C-6D6A0B8E5C6A}" destId="{64158EFB-6528-4F4E-9C6D-35547F41B135}" srcOrd="0" destOrd="0" presId="urn:microsoft.com/office/officeart/2005/8/layout/hProcess7"/>
    <dgm:cxn modelId="{9B8E4BCF-D907-46FF-9BB9-E8534384F9D8}" srcId="{8028461E-408D-4084-A8B1-984BDD4AD40F}" destId="{88ACEC61-B105-4A3E-A0F5-CE01620E3D0C}" srcOrd="0" destOrd="0" parTransId="{0FEAC5FF-9953-499D-BEBF-A529A7B73853}" sibTransId="{9B6A686D-9C5F-416E-987F-379522A84C7D}"/>
    <dgm:cxn modelId="{24146CD5-5BB7-4DB3-BA72-232676A7DA28}" type="presOf" srcId="{86FDB59A-0B42-4FD3-BB8E-066B8ECFBC17}" destId="{88BB810E-F3D5-4204-9986-73D3DA7E1C5C}" srcOrd="0" destOrd="0" presId="urn:microsoft.com/office/officeart/2005/8/layout/hProcess7"/>
    <dgm:cxn modelId="{F0C3FDDD-E262-4F73-A19A-E7AAE827336C}" type="presOf" srcId="{8028461E-408D-4084-A8B1-984BDD4AD40F}" destId="{3C6C1BC6-ADA8-4565-8876-8D44807575AB}" srcOrd="0" destOrd="0" presId="urn:microsoft.com/office/officeart/2005/8/layout/hProcess7"/>
    <dgm:cxn modelId="{961CDEFC-F903-400B-9235-9E60D41BE70C}" srcId="{A4F989EA-7F90-42D3-8DB2-3E8CF9EB952E}" destId="{5B6F1FC8-06F5-4218-889C-6D6A0B8E5C6A}" srcOrd="0" destOrd="0" parTransId="{A97DF92C-035E-4399-94EE-6E93DD9423A3}" sibTransId="{A1E79158-881E-4D99-A2F2-A67A2830F350}"/>
    <dgm:cxn modelId="{180EC1CD-8E7D-4403-BB3F-ED099F5E6D02}" type="presParOf" srcId="{88BB810E-F3D5-4204-9986-73D3DA7E1C5C}" destId="{83F95C12-B73C-437C-A967-33D8219A66C1}" srcOrd="0" destOrd="0" presId="urn:microsoft.com/office/officeart/2005/8/layout/hProcess7"/>
    <dgm:cxn modelId="{960291E9-AA16-4624-B4F0-E55F3DCFEA0B}" type="presParOf" srcId="{83F95C12-B73C-437C-A967-33D8219A66C1}" destId="{789E4DCA-2146-442C-B760-CCCDB1790FBE}" srcOrd="0" destOrd="0" presId="urn:microsoft.com/office/officeart/2005/8/layout/hProcess7"/>
    <dgm:cxn modelId="{CF1EA8AB-B77F-4871-BD71-0D620F11D37F}" type="presParOf" srcId="{83F95C12-B73C-437C-A967-33D8219A66C1}" destId="{9FA137FF-BF72-425D-B120-981715C28176}" srcOrd="1" destOrd="0" presId="urn:microsoft.com/office/officeart/2005/8/layout/hProcess7"/>
    <dgm:cxn modelId="{3FAE130E-F148-45D3-AAED-11C8A7430D04}" type="presParOf" srcId="{83F95C12-B73C-437C-A967-33D8219A66C1}" destId="{64158EFB-6528-4F4E-9C6D-35547F41B135}" srcOrd="2" destOrd="0" presId="urn:microsoft.com/office/officeart/2005/8/layout/hProcess7"/>
    <dgm:cxn modelId="{2612BFD5-0FD9-4BAE-9DC3-C28FA2759B67}" type="presParOf" srcId="{88BB810E-F3D5-4204-9986-73D3DA7E1C5C}" destId="{23892B95-6A59-4B07-B614-CCBA56E83407}" srcOrd="1" destOrd="0" presId="urn:microsoft.com/office/officeart/2005/8/layout/hProcess7"/>
    <dgm:cxn modelId="{395E8476-A966-45CE-8D92-44DAC64343B7}" type="presParOf" srcId="{88BB810E-F3D5-4204-9986-73D3DA7E1C5C}" destId="{6C8C1499-48B5-435A-BB33-F58D8415FA5C}" srcOrd="2" destOrd="0" presId="urn:microsoft.com/office/officeart/2005/8/layout/hProcess7"/>
    <dgm:cxn modelId="{AE3775B8-2A92-44A5-A614-AED7A9914C9D}" type="presParOf" srcId="{6C8C1499-48B5-435A-BB33-F58D8415FA5C}" destId="{31085A3C-AB19-4EBB-B2F1-644DE6B77837}" srcOrd="0" destOrd="0" presId="urn:microsoft.com/office/officeart/2005/8/layout/hProcess7"/>
    <dgm:cxn modelId="{E1F413EB-6DA7-4EE5-91D2-BD275FCBF7B4}" type="presParOf" srcId="{6C8C1499-48B5-435A-BB33-F58D8415FA5C}" destId="{812E100A-B4D0-463F-9319-DE763AC06855}" srcOrd="1" destOrd="0" presId="urn:microsoft.com/office/officeart/2005/8/layout/hProcess7"/>
    <dgm:cxn modelId="{C957472B-5D7E-4D52-8041-C747CFD2FF09}" type="presParOf" srcId="{6C8C1499-48B5-435A-BB33-F58D8415FA5C}" destId="{BFD0C840-E860-4FA5-9C30-4D61183D234F}" srcOrd="2" destOrd="0" presId="urn:microsoft.com/office/officeart/2005/8/layout/hProcess7"/>
    <dgm:cxn modelId="{33288799-7275-411F-BBE4-4900444E844F}" type="presParOf" srcId="{88BB810E-F3D5-4204-9986-73D3DA7E1C5C}" destId="{E452A27D-4F33-4557-8663-9D821641CBAE}" srcOrd="3" destOrd="0" presId="urn:microsoft.com/office/officeart/2005/8/layout/hProcess7"/>
    <dgm:cxn modelId="{ECE0971E-C21C-4405-B100-509F8439103B}" type="presParOf" srcId="{88BB810E-F3D5-4204-9986-73D3DA7E1C5C}" destId="{26C42E49-EEF1-4992-9199-359F3644D731}" srcOrd="4" destOrd="0" presId="urn:microsoft.com/office/officeart/2005/8/layout/hProcess7"/>
    <dgm:cxn modelId="{E4568FC7-A411-4DCF-A319-41EA7B943BF4}" type="presParOf" srcId="{26C42E49-EEF1-4992-9199-359F3644D731}" destId="{3C6C1BC6-ADA8-4565-8876-8D44807575AB}" srcOrd="0" destOrd="0" presId="urn:microsoft.com/office/officeart/2005/8/layout/hProcess7"/>
    <dgm:cxn modelId="{FDBE5657-A9A4-4E2E-B42C-B26B2A2F2604}" type="presParOf" srcId="{26C42E49-EEF1-4992-9199-359F3644D731}" destId="{D8AE3D14-A6C6-4130-A3C3-7CAE97CB4E0A}" srcOrd="1" destOrd="0" presId="urn:microsoft.com/office/officeart/2005/8/layout/hProcess7"/>
    <dgm:cxn modelId="{0DC2EFB7-6DF7-4698-9CAA-791A34E25C47}" type="presParOf" srcId="{26C42E49-EEF1-4992-9199-359F3644D731}" destId="{2E8B191B-18B3-472A-946D-0959DB22D32D}" srcOrd="2" destOrd="0" presId="urn:microsoft.com/office/officeart/2005/8/layout/hProcess7"/>
    <dgm:cxn modelId="{E7C9F21F-1FA0-4420-AEE8-25A458EC5613}" type="presParOf" srcId="{88BB810E-F3D5-4204-9986-73D3DA7E1C5C}" destId="{150143AD-60E2-4690-B91C-BA04FFA64CE1}" srcOrd="5" destOrd="0" presId="urn:microsoft.com/office/officeart/2005/8/layout/hProcess7"/>
    <dgm:cxn modelId="{0015410E-A53A-4CFC-9A52-C7FB0BE14A59}" type="presParOf" srcId="{88BB810E-F3D5-4204-9986-73D3DA7E1C5C}" destId="{59AC97FF-6B67-47A0-A631-00EB54C23673}" srcOrd="6" destOrd="0" presId="urn:microsoft.com/office/officeart/2005/8/layout/hProcess7"/>
    <dgm:cxn modelId="{C99EC3F4-B2E8-4E83-AD7E-4E4B9D025350}" type="presParOf" srcId="{59AC97FF-6B67-47A0-A631-00EB54C23673}" destId="{035B2253-C5E6-4B36-A338-2234569AEAC3}" srcOrd="0" destOrd="0" presId="urn:microsoft.com/office/officeart/2005/8/layout/hProcess7"/>
    <dgm:cxn modelId="{F4E05E2A-96BB-40F5-8E03-CC5F0638234A}" type="presParOf" srcId="{59AC97FF-6B67-47A0-A631-00EB54C23673}" destId="{6EC5D91F-5D54-44E3-ACD9-F40BC956A006}" srcOrd="1" destOrd="0" presId="urn:microsoft.com/office/officeart/2005/8/layout/hProcess7"/>
    <dgm:cxn modelId="{A49C40E1-1D03-47AB-B367-3F7EA5339359}" type="presParOf" srcId="{59AC97FF-6B67-47A0-A631-00EB54C23673}" destId="{5C559D0D-5281-4C18-A361-BB3D74C145F6}" srcOrd="2" destOrd="0" presId="urn:microsoft.com/office/officeart/2005/8/layout/hProcess7"/>
    <dgm:cxn modelId="{7F9C21DC-2B6B-4BD3-A864-5211E66A95D7}" type="presParOf" srcId="{88BB810E-F3D5-4204-9986-73D3DA7E1C5C}" destId="{0895AA33-07CE-4D29-8C34-B02E44F4C02B}" srcOrd="7" destOrd="0" presId="urn:microsoft.com/office/officeart/2005/8/layout/hProcess7"/>
    <dgm:cxn modelId="{C5B18C07-BC0D-4107-8444-B9E69CCB376C}" type="presParOf" srcId="{88BB810E-F3D5-4204-9986-73D3DA7E1C5C}" destId="{9F244706-3164-4BEA-AB97-0AB9FC24234B}" srcOrd="8" destOrd="0" presId="urn:microsoft.com/office/officeart/2005/8/layout/hProcess7"/>
    <dgm:cxn modelId="{1C42FE9D-AE18-478D-8849-B5D570DA511B}" type="presParOf" srcId="{9F244706-3164-4BEA-AB97-0AB9FC24234B}" destId="{CD00EFF7-5A40-4127-9CD5-4BA2DBCC2C93}" srcOrd="0" destOrd="0" presId="urn:microsoft.com/office/officeart/2005/8/layout/hProcess7"/>
    <dgm:cxn modelId="{E324D6B3-1C0E-4D33-B714-93D92FAC0AC3}" type="presParOf" srcId="{9F244706-3164-4BEA-AB97-0AB9FC24234B}" destId="{980A317F-428A-4DF0-9228-88063167314F}" srcOrd="1" destOrd="0" presId="urn:microsoft.com/office/officeart/2005/8/layout/hProcess7"/>
    <dgm:cxn modelId="{368D8F8A-03C2-429F-8DFB-2B3CFFD1840A}" type="presParOf" srcId="{9F244706-3164-4BEA-AB97-0AB9FC24234B}" destId="{4173EA6D-2E16-4DFB-BA00-C2C3CBDE06E5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FDB59A-0B42-4FD3-BB8E-066B8ECFBC17}" type="doc">
      <dgm:prSet loTypeId="urn:microsoft.com/office/officeart/2005/8/layout/hProcess7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A4F989EA-7F90-42D3-8DB2-3E8CF9EB952E}">
      <dgm:prSet phldrT="[Text]" custT="1"/>
      <dgm:spPr/>
      <dgm:t>
        <a:bodyPr/>
        <a:lstStyle/>
        <a:p>
          <a:r>
            <a:rPr lang="en-US" sz="1800" dirty="0"/>
            <a:t>Step 1</a:t>
          </a:r>
        </a:p>
      </dgm:t>
    </dgm:pt>
    <dgm:pt modelId="{FB0F0388-A14C-4F04-A342-C4EE2F2873C7}" type="parTrans" cxnId="{A892FC48-472F-45B2-AFE7-0174634ECF7C}">
      <dgm:prSet/>
      <dgm:spPr/>
      <dgm:t>
        <a:bodyPr/>
        <a:lstStyle/>
        <a:p>
          <a:endParaRPr lang="en-US"/>
        </a:p>
      </dgm:t>
    </dgm:pt>
    <dgm:pt modelId="{AFC9440A-EED7-489D-B28E-616CD6157812}" type="sibTrans" cxnId="{A892FC48-472F-45B2-AFE7-0174634ECF7C}">
      <dgm:prSet/>
      <dgm:spPr/>
      <dgm:t>
        <a:bodyPr/>
        <a:lstStyle/>
        <a:p>
          <a:endParaRPr lang="en-US"/>
        </a:p>
      </dgm:t>
    </dgm:pt>
    <dgm:pt modelId="{5B6F1FC8-06F5-4218-889C-6D6A0B8E5C6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PeptideRanker</a:t>
          </a:r>
          <a:endParaRPr lang="en-US" sz="2000" dirty="0"/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1"/>
            </a:rPr>
            <a:t>http://distilldeep.ucd.ie/PeptideRanker/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ToxinPred</a:t>
          </a:r>
          <a:endParaRPr lang="en-US" sz="2000" dirty="0"/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2"/>
            </a:rPr>
            <a:t>https://webs.iiitd.edu.in/raghava/toxinpred/index.html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AlgPred</a:t>
          </a:r>
          <a:r>
            <a:rPr lang="en-US" sz="2000" dirty="0"/>
            <a:t> 2.0</a:t>
          </a:r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3"/>
            </a:rPr>
            <a:t>https://webs.iiitd.edu.in/raghava/algpred2/</a:t>
          </a:r>
          <a:endParaRPr lang="en-US" sz="1000" dirty="0"/>
        </a:p>
        <a:p>
          <a:pPr>
            <a:buFont typeface="Arial" panose="020B0604020202020204" pitchFamily="34" charset="0"/>
            <a:buChar char="•"/>
          </a:pPr>
          <a:r>
            <a:rPr lang="en-US" sz="2000" dirty="0" err="1"/>
            <a:t>ADMETlab</a:t>
          </a:r>
          <a:r>
            <a:rPr lang="en-US" sz="2000" dirty="0"/>
            <a:t> 2.0 </a:t>
          </a:r>
          <a:r>
            <a:rPr lang="en-US" sz="1000" dirty="0">
              <a:hlinkClick xmlns:r="http://schemas.openxmlformats.org/officeDocument/2006/relationships" r:id="rId4"/>
            </a:rPr>
            <a:t>https://admet.scbdd.com/home/index/</a:t>
          </a:r>
          <a:r>
            <a:rPr lang="en-US" sz="2000" dirty="0"/>
            <a:t> /</a:t>
          </a:r>
          <a:r>
            <a:rPr lang="en-US" sz="2000" dirty="0" err="1"/>
            <a:t>admetSAR</a:t>
          </a:r>
          <a:r>
            <a:rPr lang="en-US" sz="200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sz="1000" dirty="0">
              <a:hlinkClick xmlns:r="http://schemas.openxmlformats.org/officeDocument/2006/relationships" r:id="rId5"/>
            </a:rPr>
            <a:t>https://lmmd.ecust.edu.cn/admetsar1/home/</a:t>
          </a:r>
          <a:endParaRPr lang="en-US" sz="1000" dirty="0"/>
        </a:p>
      </dgm:t>
    </dgm:pt>
    <dgm:pt modelId="{A97DF92C-035E-4399-94EE-6E93DD9423A3}" type="parTrans" cxnId="{961CDEFC-F903-400B-9235-9E60D41BE70C}">
      <dgm:prSet/>
      <dgm:spPr/>
      <dgm:t>
        <a:bodyPr/>
        <a:lstStyle/>
        <a:p>
          <a:endParaRPr lang="en-US"/>
        </a:p>
      </dgm:t>
    </dgm:pt>
    <dgm:pt modelId="{A1E79158-881E-4D99-A2F2-A67A2830F350}" type="sibTrans" cxnId="{961CDEFC-F903-400B-9235-9E60D41BE70C}">
      <dgm:prSet/>
      <dgm:spPr/>
      <dgm:t>
        <a:bodyPr/>
        <a:lstStyle/>
        <a:p>
          <a:endParaRPr lang="en-US"/>
        </a:p>
      </dgm:t>
    </dgm:pt>
    <dgm:pt modelId="{8028461E-408D-4084-A8B1-984BDD4AD40F}">
      <dgm:prSet phldrT="[Text]" custT="1"/>
      <dgm:spPr/>
      <dgm:t>
        <a:bodyPr/>
        <a:lstStyle/>
        <a:p>
          <a:r>
            <a:rPr lang="en-US" sz="1800" dirty="0"/>
            <a:t>Step 2</a:t>
          </a:r>
        </a:p>
      </dgm:t>
    </dgm:pt>
    <dgm:pt modelId="{C1C654AE-D9A2-4886-9B17-568F6C3FE5E2}" type="parTrans" cxnId="{68184B7A-F815-4079-BDD2-DB063C3279F5}">
      <dgm:prSet/>
      <dgm:spPr/>
      <dgm:t>
        <a:bodyPr/>
        <a:lstStyle/>
        <a:p>
          <a:endParaRPr lang="en-US"/>
        </a:p>
      </dgm:t>
    </dgm:pt>
    <dgm:pt modelId="{24DB1F34-29D5-4457-B580-A2788029A9EB}" type="sibTrans" cxnId="{68184B7A-F815-4079-BDD2-DB063C3279F5}">
      <dgm:prSet/>
      <dgm:spPr/>
      <dgm:t>
        <a:bodyPr/>
        <a:lstStyle/>
        <a:p>
          <a:endParaRPr lang="en-US"/>
        </a:p>
      </dgm:t>
    </dgm:pt>
    <dgm:pt modelId="{88ACEC61-B105-4A3E-A0F5-CE01620E3D0C}">
      <dgm:prSet phldrT="[Text]" custT="1"/>
      <dgm:spPr/>
      <dgm:t>
        <a:bodyPr/>
        <a:lstStyle/>
        <a:p>
          <a:r>
            <a:rPr lang="en-US" sz="1800" b="0" dirty="0"/>
            <a:t>UniDL4BioPep</a:t>
          </a:r>
        </a:p>
        <a:p>
          <a:r>
            <a:rPr lang="en-US" sz="1000" dirty="0">
              <a:hlinkClick xmlns:r="http://schemas.openxmlformats.org/officeDocument/2006/relationships" r:id="rId6"/>
            </a:rPr>
            <a:t>https://nepc2pvmzy.us-east-1.awsapprunner.com/</a:t>
          </a:r>
          <a:endParaRPr lang="en-US" sz="1000" b="0" dirty="0"/>
        </a:p>
        <a:p>
          <a:r>
            <a:rPr lang="en-US" sz="1800" b="0" dirty="0"/>
            <a:t>CBBL-SKKU peptide prediction tools</a:t>
          </a:r>
        </a:p>
        <a:p>
          <a:r>
            <a:rPr lang="en-US" sz="1000" dirty="0">
              <a:hlinkClick xmlns:r="http://schemas.openxmlformats.org/officeDocument/2006/relationships" r:id="rId7"/>
            </a:rPr>
            <a:t>https://balalab-skku.org/peptidebased/</a:t>
          </a:r>
          <a:endParaRPr lang="en-US" sz="1000" b="0" dirty="0"/>
        </a:p>
        <a:p>
          <a:r>
            <a:rPr lang="en-US" sz="1800" b="0" dirty="0"/>
            <a:t>CSM-peptides</a:t>
          </a:r>
        </a:p>
        <a:p>
          <a:r>
            <a:rPr lang="en-US" sz="1000" dirty="0">
              <a:hlinkClick xmlns:r="http://schemas.openxmlformats.org/officeDocument/2006/relationships" r:id="rId8"/>
            </a:rPr>
            <a:t>https://biosig.lab.uq.edu.au/csm_peptides/</a:t>
          </a:r>
          <a:endParaRPr lang="en-US" sz="1000" b="0" dirty="0"/>
        </a:p>
        <a:p>
          <a:r>
            <a:rPr lang="en-US" sz="1800" b="0" i="0" dirty="0"/>
            <a:t>pLM4ACE</a:t>
          </a:r>
        </a:p>
        <a:p>
          <a:r>
            <a:rPr lang="en-US" sz="1000" dirty="0">
              <a:hlinkClick xmlns:r="http://schemas.openxmlformats.org/officeDocument/2006/relationships" r:id="rId9"/>
            </a:rPr>
            <a:t>https://sqzujiduce.us-east-1.awsapprunner.com/</a:t>
          </a:r>
          <a:endParaRPr lang="en-US" sz="1000" b="0" i="0" dirty="0"/>
        </a:p>
      </dgm:t>
    </dgm:pt>
    <dgm:pt modelId="{0FEAC5FF-9953-499D-BEBF-A529A7B73853}" type="parTrans" cxnId="{9B8E4BCF-D907-46FF-9BB9-E8534384F9D8}">
      <dgm:prSet/>
      <dgm:spPr/>
      <dgm:t>
        <a:bodyPr/>
        <a:lstStyle/>
        <a:p>
          <a:endParaRPr lang="en-US"/>
        </a:p>
      </dgm:t>
    </dgm:pt>
    <dgm:pt modelId="{9B6A686D-9C5F-416E-987F-379522A84C7D}" type="sibTrans" cxnId="{9B8E4BCF-D907-46FF-9BB9-E8534384F9D8}">
      <dgm:prSet/>
      <dgm:spPr/>
      <dgm:t>
        <a:bodyPr/>
        <a:lstStyle/>
        <a:p>
          <a:endParaRPr lang="en-US"/>
        </a:p>
      </dgm:t>
    </dgm:pt>
    <dgm:pt modelId="{BB48CF69-44B9-4445-862A-1AE28223E2D9}">
      <dgm:prSet custT="1"/>
      <dgm:spPr/>
      <dgm:t>
        <a:bodyPr/>
        <a:lstStyle/>
        <a:p>
          <a:r>
            <a:rPr lang="en-US" sz="1800" dirty="0"/>
            <a:t>Step 3</a:t>
          </a:r>
        </a:p>
      </dgm:t>
    </dgm:pt>
    <dgm:pt modelId="{40D609D1-8CFC-4904-93D2-3DC035B80B97}" type="parTrans" cxnId="{6B4E954A-AA91-423B-BB3D-5A7CA0C07432}">
      <dgm:prSet/>
      <dgm:spPr/>
      <dgm:t>
        <a:bodyPr/>
        <a:lstStyle/>
        <a:p>
          <a:endParaRPr lang="en-US"/>
        </a:p>
      </dgm:t>
    </dgm:pt>
    <dgm:pt modelId="{292A0E0A-B240-41B9-8297-7F1D99BDDED2}" type="sibTrans" cxnId="{6B4E954A-AA91-423B-BB3D-5A7CA0C07432}">
      <dgm:prSet/>
      <dgm:spPr/>
      <dgm:t>
        <a:bodyPr/>
        <a:lstStyle/>
        <a:p>
          <a:endParaRPr lang="en-US"/>
        </a:p>
      </dgm:t>
    </dgm:pt>
    <dgm:pt modelId="{D6CC78D0-D5C4-4154-B69B-E6E8D0B8402B}">
      <dgm:prSet custT="1"/>
      <dgm:spPr/>
      <dgm:t>
        <a:bodyPr/>
        <a:lstStyle/>
        <a:p>
          <a:r>
            <a:rPr lang="en-US" sz="1800" dirty="0"/>
            <a:t>HDOCK/</a:t>
          </a:r>
          <a:r>
            <a:rPr lang="en-US" sz="1800" dirty="0" err="1"/>
            <a:t>PyMol</a:t>
          </a:r>
          <a:r>
            <a:rPr lang="en-US" sz="1800" dirty="0"/>
            <a:t>/</a:t>
          </a:r>
        </a:p>
        <a:p>
          <a:r>
            <a:rPr lang="en-US" sz="1800" dirty="0" err="1"/>
            <a:t>AutoDockVina</a:t>
          </a:r>
          <a:endParaRPr lang="en-US" sz="1800" dirty="0"/>
        </a:p>
        <a:p>
          <a:endParaRPr lang="en-US" sz="1800" dirty="0"/>
        </a:p>
        <a:p>
          <a:r>
            <a:rPr lang="en-US" sz="1800" dirty="0"/>
            <a:t>PDB/AlphaFold</a:t>
          </a:r>
        </a:p>
        <a:p>
          <a:endParaRPr lang="en-US" sz="1800" dirty="0"/>
        </a:p>
        <a:p>
          <a:r>
            <a:rPr lang="en-US" sz="1800" dirty="0" err="1"/>
            <a:t>ChemDraw</a:t>
          </a:r>
          <a:r>
            <a:rPr lang="en-US" sz="1800" dirty="0"/>
            <a:t>/</a:t>
          </a:r>
        </a:p>
        <a:p>
          <a:r>
            <a:rPr lang="en-US" sz="1800" dirty="0" err="1"/>
            <a:t>PepDraw</a:t>
          </a:r>
          <a:r>
            <a:rPr lang="en-US" sz="1800" dirty="0"/>
            <a:t>/</a:t>
          </a:r>
          <a:r>
            <a:rPr lang="en-US" sz="1800" dirty="0" err="1"/>
            <a:t>MolDraw</a:t>
          </a:r>
          <a:endParaRPr lang="en-US" sz="1800" dirty="0"/>
        </a:p>
        <a:p>
          <a:endParaRPr lang="en-US" sz="1800" dirty="0"/>
        </a:p>
        <a:p>
          <a:r>
            <a:rPr lang="en-US" sz="1800" dirty="0" err="1"/>
            <a:t>LigPlot</a:t>
          </a:r>
          <a:endParaRPr lang="en-US" sz="1800" dirty="0"/>
        </a:p>
      </dgm:t>
    </dgm:pt>
    <dgm:pt modelId="{88B576BF-6CFA-46F2-8B44-A923144CBB88}" type="parTrans" cxnId="{899B43B0-E706-4BCB-BBC6-E4BA7B24E028}">
      <dgm:prSet/>
      <dgm:spPr/>
      <dgm:t>
        <a:bodyPr/>
        <a:lstStyle/>
        <a:p>
          <a:endParaRPr lang="en-US"/>
        </a:p>
      </dgm:t>
    </dgm:pt>
    <dgm:pt modelId="{182C375F-6C62-4D38-9428-ADC67680E81B}" type="sibTrans" cxnId="{899B43B0-E706-4BCB-BBC6-E4BA7B24E028}">
      <dgm:prSet/>
      <dgm:spPr/>
      <dgm:t>
        <a:bodyPr/>
        <a:lstStyle/>
        <a:p>
          <a:endParaRPr lang="en-US"/>
        </a:p>
      </dgm:t>
    </dgm:pt>
    <dgm:pt modelId="{88BB810E-F3D5-4204-9986-73D3DA7E1C5C}" type="pres">
      <dgm:prSet presAssocID="{86FDB59A-0B42-4FD3-BB8E-066B8ECFBC17}" presName="Name0" presStyleCnt="0">
        <dgm:presLayoutVars>
          <dgm:dir/>
          <dgm:animLvl val="lvl"/>
          <dgm:resizeHandles val="exact"/>
        </dgm:presLayoutVars>
      </dgm:prSet>
      <dgm:spPr/>
    </dgm:pt>
    <dgm:pt modelId="{83F95C12-B73C-437C-A967-33D8219A66C1}" type="pres">
      <dgm:prSet presAssocID="{A4F989EA-7F90-42D3-8DB2-3E8CF9EB952E}" presName="compositeNode" presStyleCnt="0">
        <dgm:presLayoutVars>
          <dgm:bulletEnabled val="1"/>
        </dgm:presLayoutVars>
      </dgm:prSet>
      <dgm:spPr/>
    </dgm:pt>
    <dgm:pt modelId="{789E4DCA-2146-442C-B760-CCCDB1790FBE}" type="pres">
      <dgm:prSet presAssocID="{A4F989EA-7F90-42D3-8DB2-3E8CF9EB952E}" presName="bgRect" presStyleLbl="node1" presStyleIdx="0" presStyleCnt="3"/>
      <dgm:spPr/>
    </dgm:pt>
    <dgm:pt modelId="{9FA137FF-BF72-425D-B120-981715C28176}" type="pres">
      <dgm:prSet presAssocID="{A4F989EA-7F90-42D3-8DB2-3E8CF9EB952E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64158EFB-6528-4F4E-9C6D-35547F41B135}" type="pres">
      <dgm:prSet presAssocID="{A4F989EA-7F90-42D3-8DB2-3E8CF9EB952E}" presName="childNode" presStyleLbl="node1" presStyleIdx="0" presStyleCnt="3">
        <dgm:presLayoutVars>
          <dgm:bulletEnabled val="1"/>
        </dgm:presLayoutVars>
      </dgm:prSet>
      <dgm:spPr/>
    </dgm:pt>
    <dgm:pt modelId="{23892B95-6A59-4B07-B614-CCBA56E83407}" type="pres">
      <dgm:prSet presAssocID="{AFC9440A-EED7-489D-B28E-616CD6157812}" presName="hSp" presStyleCnt="0"/>
      <dgm:spPr/>
    </dgm:pt>
    <dgm:pt modelId="{6C8C1499-48B5-435A-BB33-F58D8415FA5C}" type="pres">
      <dgm:prSet presAssocID="{AFC9440A-EED7-489D-B28E-616CD6157812}" presName="vProcSp" presStyleCnt="0"/>
      <dgm:spPr/>
    </dgm:pt>
    <dgm:pt modelId="{31085A3C-AB19-4EBB-B2F1-644DE6B77837}" type="pres">
      <dgm:prSet presAssocID="{AFC9440A-EED7-489D-B28E-616CD6157812}" presName="vSp1" presStyleCnt="0"/>
      <dgm:spPr/>
    </dgm:pt>
    <dgm:pt modelId="{812E100A-B4D0-463F-9319-DE763AC06855}" type="pres">
      <dgm:prSet presAssocID="{AFC9440A-EED7-489D-B28E-616CD6157812}" presName="simulatedConn" presStyleLbl="solidFgAcc1" presStyleIdx="0" presStyleCnt="2"/>
      <dgm:spPr/>
    </dgm:pt>
    <dgm:pt modelId="{BFD0C840-E860-4FA5-9C30-4D61183D234F}" type="pres">
      <dgm:prSet presAssocID="{AFC9440A-EED7-489D-B28E-616CD6157812}" presName="vSp2" presStyleCnt="0"/>
      <dgm:spPr/>
    </dgm:pt>
    <dgm:pt modelId="{E452A27D-4F33-4557-8663-9D821641CBAE}" type="pres">
      <dgm:prSet presAssocID="{AFC9440A-EED7-489D-B28E-616CD6157812}" presName="sibTrans" presStyleCnt="0"/>
      <dgm:spPr/>
    </dgm:pt>
    <dgm:pt modelId="{26C42E49-EEF1-4992-9199-359F3644D731}" type="pres">
      <dgm:prSet presAssocID="{8028461E-408D-4084-A8B1-984BDD4AD40F}" presName="compositeNode" presStyleCnt="0">
        <dgm:presLayoutVars>
          <dgm:bulletEnabled val="1"/>
        </dgm:presLayoutVars>
      </dgm:prSet>
      <dgm:spPr/>
    </dgm:pt>
    <dgm:pt modelId="{3C6C1BC6-ADA8-4565-8876-8D44807575AB}" type="pres">
      <dgm:prSet presAssocID="{8028461E-408D-4084-A8B1-984BDD4AD40F}" presName="bgRect" presStyleLbl="node1" presStyleIdx="1" presStyleCnt="3"/>
      <dgm:spPr/>
    </dgm:pt>
    <dgm:pt modelId="{D8AE3D14-A6C6-4130-A3C3-7CAE97CB4E0A}" type="pres">
      <dgm:prSet presAssocID="{8028461E-408D-4084-A8B1-984BDD4AD40F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E8B191B-18B3-472A-946D-0959DB22D32D}" type="pres">
      <dgm:prSet presAssocID="{8028461E-408D-4084-A8B1-984BDD4AD40F}" presName="childNode" presStyleLbl="node1" presStyleIdx="1" presStyleCnt="3">
        <dgm:presLayoutVars>
          <dgm:bulletEnabled val="1"/>
        </dgm:presLayoutVars>
      </dgm:prSet>
      <dgm:spPr/>
    </dgm:pt>
    <dgm:pt modelId="{150143AD-60E2-4690-B91C-BA04FFA64CE1}" type="pres">
      <dgm:prSet presAssocID="{24DB1F34-29D5-4457-B580-A2788029A9EB}" presName="hSp" presStyleCnt="0"/>
      <dgm:spPr/>
    </dgm:pt>
    <dgm:pt modelId="{59AC97FF-6B67-47A0-A631-00EB54C23673}" type="pres">
      <dgm:prSet presAssocID="{24DB1F34-29D5-4457-B580-A2788029A9EB}" presName="vProcSp" presStyleCnt="0"/>
      <dgm:spPr/>
    </dgm:pt>
    <dgm:pt modelId="{035B2253-C5E6-4B36-A338-2234569AEAC3}" type="pres">
      <dgm:prSet presAssocID="{24DB1F34-29D5-4457-B580-A2788029A9EB}" presName="vSp1" presStyleCnt="0"/>
      <dgm:spPr/>
    </dgm:pt>
    <dgm:pt modelId="{6EC5D91F-5D54-44E3-ACD9-F40BC956A006}" type="pres">
      <dgm:prSet presAssocID="{24DB1F34-29D5-4457-B580-A2788029A9EB}" presName="simulatedConn" presStyleLbl="solidFgAcc1" presStyleIdx="1" presStyleCnt="2"/>
      <dgm:spPr/>
    </dgm:pt>
    <dgm:pt modelId="{5C559D0D-5281-4C18-A361-BB3D74C145F6}" type="pres">
      <dgm:prSet presAssocID="{24DB1F34-29D5-4457-B580-A2788029A9EB}" presName="vSp2" presStyleCnt="0"/>
      <dgm:spPr/>
    </dgm:pt>
    <dgm:pt modelId="{0895AA33-07CE-4D29-8C34-B02E44F4C02B}" type="pres">
      <dgm:prSet presAssocID="{24DB1F34-29D5-4457-B580-A2788029A9EB}" presName="sibTrans" presStyleCnt="0"/>
      <dgm:spPr/>
    </dgm:pt>
    <dgm:pt modelId="{9F244706-3164-4BEA-AB97-0AB9FC24234B}" type="pres">
      <dgm:prSet presAssocID="{BB48CF69-44B9-4445-862A-1AE28223E2D9}" presName="compositeNode" presStyleCnt="0">
        <dgm:presLayoutVars>
          <dgm:bulletEnabled val="1"/>
        </dgm:presLayoutVars>
      </dgm:prSet>
      <dgm:spPr/>
    </dgm:pt>
    <dgm:pt modelId="{CD00EFF7-5A40-4127-9CD5-4BA2DBCC2C93}" type="pres">
      <dgm:prSet presAssocID="{BB48CF69-44B9-4445-862A-1AE28223E2D9}" presName="bgRect" presStyleLbl="node1" presStyleIdx="2" presStyleCnt="3"/>
      <dgm:spPr/>
    </dgm:pt>
    <dgm:pt modelId="{980A317F-428A-4DF0-9228-88063167314F}" type="pres">
      <dgm:prSet presAssocID="{BB48CF69-44B9-4445-862A-1AE28223E2D9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4173EA6D-2E16-4DFB-BA00-C2C3CBDE06E5}" type="pres">
      <dgm:prSet presAssocID="{BB48CF69-44B9-4445-862A-1AE28223E2D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1CC89E06-C281-45D8-8398-48266EC3D468}" type="presOf" srcId="{8028461E-408D-4084-A8B1-984BDD4AD40F}" destId="{D8AE3D14-A6C6-4130-A3C3-7CAE97CB4E0A}" srcOrd="1" destOrd="0" presId="urn:microsoft.com/office/officeart/2005/8/layout/hProcess7"/>
    <dgm:cxn modelId="{D8B66A07-D1A3-4A33-868B-FB46A8D6B115}" type="presOf" srcId="{88ACEC61-B105-4A3E-A0F5-CE01620E3D0C}" destId="{2E8B191B-18B3-472A-946D-0959DB22D32D}" srcOrd="0" destOrd="0" presId="urn:microsoft.com/office/officeart/2005/8/layout/hProcess7"/>
    <dgm:cxn modelId="{4A84AF1A-4314-4A60-83FF-0138C988E146}" type="presOf" srcId="{A4F989EA-7F90-42D3-8DB2-3E8CF9EB952E}" destId="{789E4DCA-2146-442C-B760-CCCDB1790FBE}" srcOrd="0" destOrd="0" presId="urn:microsoft.com/office/officeart/2005/8/layout/hProcess7"/>
    <dgm:cxn modelId="{78689041-B76F-4132-ABCB-0DFA62F00CFC}" type="presOf" srcId="{D6CC78D0-D5C4-4154-B69B-E6E8D0B8402B}" destId="{4173EA6D-2E16-4DFB-BA00-C2C3CBDE06E5}" srcOrd="0" destOrd="0" presId="urn:microsoft.com/office/officeart/2005/8/layout/hProcess7"/>
    <dgm:cxn modelId="{A892FC48-472F-45B2-AFE7-0174634ECF7C}" srcId="{86FDB59A-0B42-4FD3-BB8E-066B8ECFBC17}" destId="{A4F989EA-7F90-42D3-8DB2-3E8CF9EB952E}" srcOrd="0" destOrd="0" parTransId="{FB0F0388-A14C-4F04-A342-C4EE2F2873C7}" sibTransId="{AFC9440A-EED7-489D-B28E-616CD6157812}"/>
    <dgm:cxn modelId="{6B4E954A-AA91-423B-BB3D-5A7CA0C07432}" srcId="{86FDB59A-0B42-4FD3-BB8E-066B8ECFBC17}" destId="{BB48CF69-44B9-4445-862A-1AE28223E2D9}" srcOrd="2" destOrd="0" parTransId="{40D609D1-8CFC-4904-93D2-3DC035B80B97}" sibTransId="{292A0E0A-B240-41B9-8297-7F1D99BDDED2}"/>
    <dgm:cxn modelId="{C5E5306E-E3EB-4274-B9EF-806A422E0DBF}" type="presOf" srcId="{A4F989EA-7F90-42D3-8DB2-3E8CF9EB952E}" destId="{9FA137FF-BF72-425D-B120-981715C28176}" srcOrd="1" destOrd="0" presId="urn:microsoft.com/office/officeart/2005/8/layout/hProcess7"/>
    <dgm:cxn modelId="{BA8A8978-8903-453D-800C-B33D692E1C59}" type="presOf" srcId="{BB48CF69-44B9-4445-862A-1AE28223E2D9}" destId="{980A317F-428A-4DF0-9228-88063167314F}" srcOrd="1" destOrd="0" presId="urn:microsoft.com/office/officeart/2005/8/layout/hProcess7"/>
    <dgm:cxn modelId="{68184B7A-F815-4079-BDD2-DB063C3279F5}" srcId="{86FDB59A-0B42-4FD3-BB8E-066B8ECFBC17}" destId="{8028461E-408D-4084-A8B1-984BDD4AD40F}" srcOrd="1" destOrd="0" parTransId="{C1C654AE-D9A2-4886-9B17-568F6C3FE5E2}" sibTransId="{24DB1F34-29D5-4457-B580-A2788029A9EB}"/>
    <dgm:cxn modelId="{A01E497C-4651-42AE-8076-89101FB5B75F}" type="presOf" srcId="{BB48CF69-44B9-4445-862A-1AE28223E2D9}" destId="{CD00EFF7-5A40-4127-9CD5-4BA2DBCC2C93}" srcOrd="0" destOrd="0" presId="urn:microsoft.com/office/officeart/2005/8/layout/hProcess7"/>
    <dgm:cxn modelId="{899B43B0-E706-4BCB-BBC6-E4BA7B24E028}" srcId="{BB48CF69-44B9-4445-862A-1AE28223E2D9}" destId="{D6CC78D0-D5C4-4154-B69B-E6E8D0B8402B}" srcOrd="0" destOrd="0" parTransId="{88B576BF-6CFA-46F2-8B44-A923144CBB88}" sibTransId="{182C375F-6C62-4D38-9428-ADC67680E81B}"/>
    <dgm:cxn modelId="{0BDC28C1-75EC-49C3-92E3-BA04116A393F}" type="presOf" srcId="{5B6F1FC8-06F5-4218-889C-6D6A0B8E5C6A}" destId="{64158EFB-6528-4F4E-9C6D-35547F41B135}" srcOrd="0" destOrd="0" presId="urn:microsoft.com/office/officeart/2005/8/layout/hProcess7"/>
    <dgm:cxn modelId="{9B8E4BCF-D907-46FF-9BB9-E8534384F9D8}" srcId="{8028461E-408D-4084-A8B1-984BDD4AD40F}" destId="{88ACEC61-B105-4A3E-A0F5-CE01620E3D0C}" srcOrd="0" destOrd="0" parTransId="{0FEAC5FF-9953-499D-BEBF-A529A7B73853}" sibTransId="{9B6A686D-9C5F-416E-987F-379522A84C7D}"/>
    <dgm:cxn modelId="{24146CD5-5BB7-4DB3-BA72-232676A7DA28}" type="presOf" srcId="{86FDB59A-0B42-4FD3-BB8E-066B8ECFBC17}" destId="{88BB810E-F3D5-4204-9986-73D3DA7E1C5C}" srcOrd="0" destOrd="0" presId="urn:microsoft.com/office/officeart/2005/8/layout/hProcess7"/>
    <dgm:cxn modelId="{F0C3FDDD-E262-4F73-A19A-E7AAE827336C}" type="presOf" srcId="{8028461E-408D-4084-A8B1-984BDD4AD40F}" destId="{3C6C1BC6-ADA8-4565-8876-8D44807575AB}" srcOrd="0" destOrd="0" presId="urn:microsoft.com/office/officeart/2005/8/layout/hProcess7"/>
    <dgm:cxn modelId="{961CDEFC-F903-400B-9235-9E60D41BE70C}" srcId="{A4F989EA-7F90-42D3-8DB2-3E8CF9EB952E}" destId="{5B6F1FC8-06F5-4218-889C-6D6A0B8E5C6A}" srcOrd="0" destOrd="0" parTransId="{A97DF92C-035E-4399-94EE-6E93DD9423A3}" sibTransId="{A1E79158-881E-4D99-A2F2-A67A2830F350}"/>
    <dgm:cxn modelId="{180EC1CD-8E7D-4403-BB3F-ED099F5E6D02}" type="presParOf" srcId="{88BB810E-F3D5-4204-9986-73D3DA7E1C5C}" destId="{83F95C12-B73C-437C-A967-33D8219A66C1}" srcOrd="0" destOrd="0" presId="urn:microsoft.com/office/officeart/2005/8/layout/hProcess7"/>
    <dgm:cxn modelId="{960291E9-AA16-4624-B4F0-E55F3DCFEA0B}" type="presParOf" srcId="{83F95C12-B73C-437C-A967-33D8219A66C1}" destId="{789E4DCA-2146-442C-B760-CCCDB1790FBE}" srcOrd="0" destOrd="0" presId="urn:microsoft.com/office/officeart/2005/8/layout/hProcess7"/>
    <dgm:cxn modelId="{CF1EA8AB-B77F-4871-BD71-0D620F11D37F}" type="presParOf" srcId="{83F95C12-B73C-437C-A967-33D8219A66C1}" destId="{9FA137FF-BF72-425D-B120-981715C28176}" srcOrd="1" destOrd="0" presId="urn:microsoft.com/office/officeart/2005/8/layout/hProcess7"/>
    <dgm:cxn modelId="{3FAE130E-F148-45D3-AAED-11C8A7430D04}" type="presParOf" srcId="{83F95C12-B73C-437C-A967-33D8219A66C1}" destId="{64158EFB-6528-4F4E-9C6D-35547F41B135}" srcOrd="2" destOrd="0" presId="urn:microsoft.com/office/officeart/2005/8/layout/hProcess7"/>
    <dgm:cxn modelId="{2612BFD5-0FD9-4BAE-9DC3-C28FA2759B67}" type="presParOf" srcId="{88BB810E-F3D5-4204-9986-73D3DA7E1C5C}" destId="{23892B95-6A59-4B07-B614-CCBA56E83407}" srcOrd="1" destOrd="0" presId="urn:microsoft.com/office/officeart/2005/8/layout/hProcess7"/>
    <dgm:cxn modelId="{395E8476-A966-45CE-8D92-44DAC64343B7}" type="presParOf" srcId="{88BB810E-F3D5-4204-9986-73D3DA7E1C5C}" destId="{6C8C1499-48B5-435A-BB33-F58D8415FA5C}" srcOrd="2" destOrd="0" presId="urn:microsoft.com/office/officeart/2005/8/layout/hProcess7"/>
    <dgm:cxn modelId="{AE3775B8-2A92-44A5-A614-AED7A9914C9D}" type="presParOf" srcId="{6C8C1499-48B5-435A-BB33-F58D8415FA5C}" destId="{31085A3C-AB19-4EBB-B2F1-644DE6B77837}" srcOrd="0" destOrd="0" presId="urn:microsoft.com/office/officeart/2005/8/layout/hProcess7"/>
    <dgm:cxn modelId="{E1F413EB-6DA7-4EE5-91D2-BD275FCBF7B4}" type="presParOf" srcId="{6C8C1499-48B5-435A-BB33-F58D8415FA5C}" destId="{812E100A-B4D0-463F-9319-DE763AC06855}" srcOrd="1" destOrd="0" presId="urn:microsoft.com/office/officeart/2005/8/layout/hProcess7"/>
    <dgm:cxn modelId="{C957472B-5D7E-4D52-8041-C747CFD2FF09}" type="presParOf" srcId="{6C8C1499-48B5-435A-BB33-F58D8415FA5C}" destId="{BFD0C840-E860-4FA5-9C30-4D61183D234F}" srcOrd="2" destOrd="0" presId="urn:microsoft.com/office/officeart/2005/8/layout/hProcess7"/>
    <dgm:cxn modelId="{33288799-7275-411F-BBE4-4900444E844F}" type="presParOf" srcId="{88BB810E-F3D5-4204-9986-73D3DA7E1C5C}" destId="{E452A27D-4F33-4557-8663-9D821641CBAE}" srcOrd="3" destOrd="0" presId="urn:microsoft.com/office/officeart/2005/8/layout/hProcess7"/>
    <dgm:cxn modelId="{ECE0971E-C21C-4405-B100-509F8439103B}" type="presParOf" srcId="{88BB810E-F3D5-4204-9986-73D3DA7E1C5C}" destId="{26C42E49-EEF1-4992-9199-359F3644D731}" srcOrd="4" destOrd="0" presId="urn:microsoft.com/office/officeart/2005/8/layout/hProcess7"/>
    <dgm:cxn modelId="{E4568FC7-A411-4DCF-A319-41EA7B943BF4}" type="presParOf" srcId="{26C42E49-EEF1-4992-9199-359F3644D731}" destId="{3C6C1BC6-ADA8-4565-8876-8D44807575AB}" srcOrd="0" destOrd="0" presId="urn:microsoft.com/office/officeart/2005/8/layout/hProcess7"/>
    <dgm:cxn modelId="{FDBE5657-A9A4-4E2E-B42C-B26B2A2F2604}" type="presParOf" srcId="{26C42E49-EEF1-4992-9199-359F3644D731}" destId="{D8AE3D14-A6C6-4130-A3C3-7CAE97CB4E0A}" srcOrd="1" destOrd="0" presId="urn:microsoft.com/office/officeart/2005/8/layout/hProcess7"/>
    <dgm:cxn modelId="{0DC2EFB7-6DF7-4698-9CAA-791A34E25C47}" type="presParOf" srcId="{26C42E49-EEF1-4992-9199-359F3644D731}" destId="{2E8B191B-18B3-472A-946D-0959DB22D32D}" srcOrd="2" destOrd="0" presId="urn:microsoft.com/office/officeart/2005/8/layout/hProcess7"/>
    <dgm:cxn modelId="{E7C9F21F-1FA0-4420-AEE8-25A458EC5613}" type="presParOf" srcId="{88BB810E-F3D5-4204-9986-73D3DA7E1C5C}" destId="{150143AD-60E2-4690-B91C-BA04FFA64CE1}" srcOrd="5" destOrd="0" presId="urn:microsoft.com/office/officeart/2005/8/layout/hProcess7"/>
    <dgm:cxn modelId="{0015410E-A53A-4CFC-9A52-C7FB0BE14A59}" type="presParOf" srcId="{88BB810E-F3D5-4204-9986-73D3DA7E1C5C}" destId="{59AC97FF-6B67-47A0-A631-00EB54C23673}" srcOrd="6" destOrd="0" presId="urn:microsoft.com/office/officeart/2005/8/layout/hProcess7"/>
    <dgm:cxn modelId="{C99EC3F4-B2E8-4E83-AD7E-4E4B9D025350}" type="presParOf" srcId="{59AC97FF-6B67-47A0-A631-00EB54C23673}" destId="{035B2253-C5E6-4B36-A338-2234569AEAC3}" srcOrd="0" destOrd="0" presId="urn:microsoft.com/office/officeart/2005/8/layout/hProcess7"/>
    <dgm:cxn modelId="{F4E05E2A-96BB-40F5-8E03-CC5F0638234A}" type="presParOf" srcId="{59AC97FF-6B67-47A0-A631-00EB54C23673}" destId="{6EC5D91F-5D54-44E3-ACD9-F40BC956A006}" srcOrd="1" destOrd="0" presId="urn:microsoft.com/office/officeart/2005/8/layout/hProcess7"/>
    <dgm:cxn modelId="{A49C40E1-1D03-47AB-B367-3F7EA5339359}" type="presParOf" srcId="{59AC97FF-6B67-47A0-A631-00EB54C23673}" destId="{5C559D0D-5281-4C18-A361-BB3D74C145F6}" srcOrd="2" destOrd="0" presId="urn:microsoft.com/office/officeart/2005/8/layout/hProcess7"/>
    <dgm:cxn modelId="{7F9C21DC-2B6B-4BD3-A864-5211E66A95D7}" type="presParOf" srcId="{88BB810E-F3D5-4204-9986-73D3DA7E1C5C}" destId="{0895AA33-07CE-4D29-8C34-B02E44F4C02B}" srcOrd="7" destOrd="0" presId="urn:microsoft.com/office/officeart/2005/8/layout/hProcess7"/>
    <dgm:cxn modelId="{C5B18C07-BC0D-4107-8444-B9E69CCB376C}" type="presParOf" srcId="{88BB810E-F3D5-4204-9986-73D3DA7E1C5C}" destId="{9F244706-3164-4BEA-AB97-0AB9FC24234B}" srcOrd="8" destOrd="0" presId="urn:microsoft.com/office/officeart/2005/8/layout/hProcess7"/>
    <dgm:cxn modelId="{1C42FE9D-AE18-478D-8849-B5D570DA511B}" type="presParOf" srcId="{9F244706-3164-4BEA-AB97-0AB9FC24234B}" destId="{CD00EFF7-5A40-4127-9CD5-4BA2DBCC2C93}" srcOrd="0" destOrd="0" presId="urn:microsoft.com/office/officeart/2005/8/layout/hProcess7"/>
    <dgm:cxn modelId="{E324D6B3-1C0E-4D33-B714-93D92FAC0AC3}" type="presParOf" srcId="{9F244706-3164-4BEA-AB97-0AB9FC24234B}" destId="{980A317F-428A-4DF0-9228-88063167314F}" srcOrd="1" destOrd="0" presId="urn:microsoft.com/office/officeart/2005/8/layout/hProcess7"/>
    <dgm:cxn modelId="{368D8F8A-03C2-429F-8DFB-2B3CFFD1840A}" type="presParOf" srcId="{9F244706-3164-4BEA-AB97-0AB9FC24234B}" destId="{4173EA6D-2E16-4DFB-BA00-C2C3CBDE06E5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4DCA-2146-442C-B760-CCCDB1790FBE}">
      <dsp:nvSpPr>
        <dsp:cNvPr id="0" name=""/>
        <dsp:cNvSpPr/>
      </dsp:nvSpPr>
      <dsp:spPr>
        <a:xfrm>
          <a:off x="704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1</a:t>
          </a:r>
        </a:p>
      </dsp:txBody>
      <dsp:txXfrm rot="16200000">
        <a:off x="-1187639" y="1321261"/>
        <a:ext cx="2982986" cy="606297"/>
      </dsp:txXfrm>
    </dsp:sp>
    <dsp:sp modelId="{64158EFB-6528-4F4E-9C6D-35547F41B135}">
      <dsp:nvSpPr>
        <dsp:cNvPr id="0" name=""/>
        <dsp:cNvSpPr/>
      </dsp:nvSpPr>
      <dsp:spPr>
        <a:xfrm>
          <a:off x="607002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PeptideRanker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1"/>
            </a:rPr>
            <a:t>http://distilldeep.ucd.ie/PeptideRanker/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ToxinPred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2"/>
            </a:rPr>
            <a:t>https://webs.iiitd.edu.in/raghava/toxinpred/index.html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AlgPred</a:t>
          </a:r>
          <a:r>
            <a:rPr lang="en-US" sz="2000" kern="1200" dirty="0"/>
            <a:t> 2.0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3"/>
            </a:rPr>
            <a:t>https://webs.iiitd.edu.in/raghava/algpred2/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ADMETlab</a:t>
          </a:r>
          <a:r>
            <a:rPr lang="en-US" sz="2000" kern="1200" dirty="0"/>
            <a:t> 2.0 </a:t>
          </a:r>
          <a:r>
            <a:rPr lang="en-US" sz="1000" kern="1200" dirty="0">
              <a:hlinkClick xmlns:r="http://schemas.openxmlformats.org/officeDocument/2006/relationships" r:id="rId4"/>
            </a:rPr>
            <a:t>https://admet.scbdd.com/home/index/</a:t>
          </a:r>
          <a:r>
            <a:rPr lang="en-US" sz="2000" kern="1200" dirty="0"/>
            <a:t> /</a:t>
          </a:r>
          <a:r>
            <a:rPr lang="en-US" sz="2000" kern="1200" dirty="0" err="1"/>
            <a:t>admetSAR</a:t>
          </a:r>
          <a:r>
            <a:rPr lang="en-US" sz="200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5"/>
            </a:rPr>
            <a:t>https://lmmd.ecust.edu.cn/admetsar1/home/</a:t>
          </a:r>
          <a:endParaRPr lang="en-US" sz="1000" kern="1200" dirty="0"/>
        </a:p>
      </dsp:txBody>
      <dsp:txXfrm>
        <a:off x="607002" y="132917"/>
        <a:ext cx="2258459" cy="3637787"/>
      </dsp:txXfrm>
    </dsp:sp>
    <dsp:sp modelId="{3C6C1BC6-ADA8-4565-8876-8D44807575AB}">
      <dsp:nvSpPr>
        <dsp:cNvPr id="0" name=""/>
        <dsp:cNvSpPr/>
      </dsp:nvSpPr>
      <dsp:spPr>
        <a:xfrm>
          <a:off x="3138296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2</a:t>
          </a:r>
        </a:p>
      </dsp:txBody>
      <dsp:txXfrm rot="16200000">
        <a:off x="1949952" y="1321261"/>
        <a:ext cx="2982986" cy="606297"/>
      </dsp:txXfrm>
    </dsp:sp>
    <dsp:sp modelId="{812E100A-B4D0-463F-9319-DE763AC06855}">
      <dsp:nvSpPr>
        <dsp:cNvPr id="0" name=""/>
        <dsp:cNvSpPr/>
      </dsp:nvSpPr>
      <dsp:spPr>
        <a:xfrm rot="5400000">
          <a:off x="2886059" y="3025155"/>
          <a:ext cx="534788" cy="45472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B191B-18B3-472A-946D-0959DB22D32D}">
      <dsp:nvSpPr>
        <dsp:cNvPr id="0" name=""/>
        <dsp:cNvSpPr/>
      </dsp:nvSpPr>
      <dsp:spPr>
        <a:xfrm>
          <a:off x="3744594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UniDL4BioPep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6"/>
            </a:rPr>
            <a:t>https://nepc2pvmzy.us-east-1.awsapprunner.com/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CBBL-SKKU peptide prediction tools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7"/>
            </a:rPr>
            <a:t>https://balalab-skku.org/peptidebased/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CSM-peptides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8"/>
            </a:rPr>
            <a:t>https://biosig.lab.uq.edu.au/csm_peptides/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pLM4ACE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9"/>
            </a:rPr>
            <a:t>https://sqzujiduce.us-east-1.awsapprunner.com/</a:t>
          </a:r>
          <a:endParaRPr lang="en-US" sz="1000" b="0" i="0" kern="1200" dirty="0"/>
        </a:p>
      </dsp:txBody>
      <dsp:txXfrm>
        <a:off x="3744594" y="132917"/>
        <a:ext cx="2258459" cy="3637787"/>
      </dsp:txXfrm>
    </dsp:sp>
    <dsp:sp modelId="{CD00EFF7-5A40-4127-9CD5-4BA2DBCC2C93}">
      <dsp:nvSpPr>
        <dsp:cNvPr id="0" name=""/>
        <dsp:cNvSpPr/>
      </dsp:nvSpPr>
      <dsp:spPr>
        <a:xfrm>
          <a:off x="6275888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3</a:t>
          </a:r>
        </a:p>
      </dsp:txBody>
      <dsp:txXfrm rot="16200000">
        <a:off x="5087544" y="1321261"/>
        <a:ext cx="2982986" cy="606297"/>
      </dsp:txXfrm>
    </dsp:sp>
    <dsp:sp modelId="{6EC5D91F-5D54-44E3-ACD9-F40BC956A006}">
      <dsp:nvSpPr>
        <dsp:cNvPr id="0" name=""/>
        <dsp:cNvSpPr/>
      </dsp:nvSpPr>
      <dsp:spPr>
        <a:xfrm rot="5400000">
          <a:off x="6023651" y="3025155"/>
          <a:ext cx="534788" cy="45472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3EA6D-2E16-4DFB-BA00-C2C3CBDE06E5}">
      <dsp:nvSpPr>
        <dsp:cNvPr id="0" name=""/>
        <dsp:cNvSpPr/>
      </dsp:nvSpPr>
      <dsp:spPr>
        <a:xfrm>
          <a:off x="6882186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HDOCK/</a:t>
          </a:r>
          <a:r>
            <a:rPr lang="en-US" sz="1800" kern="1200" dirty="0" err="1"/>
            <a:t>PyMol</a:t>
          </a:r>
          <a:r>
            <a:rPr lang="en-US" sz="1800" kern="1200" dirty="0"/>
            <a:t>/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AutoDockVina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PDB/AlphaFold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ChemDraw</a:t>
          </a:r>
          <a:r>
            <a:rPr lang="en-US" sz="1800" kern="1200" dirty="0"/>
            <a:t>/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PepDraw</a:t>
          </a:r>
          <a:r>
            <a:rPr lang="en-US" sz="1800" kern="1200" dirty="0"/>
            <a:t>/</a:t>
          </a:r>
          <a:r>
            <a:rPr lang="en-US" sz="1800" kern="1200" dirty="0" err="1"/>
            <a:t>MolDraw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LigPlot</a:t>
          </a:r>
          <a:endParaRPr lang="en-US" sz="1800" kern="1200" dirty="0"/>
        </a:p>
      </dsp:txBody>
      <dsp:txXfrm>
        <a:off x="6882186" y="132917"/>
        <a:ext cx="2258459" cy="36377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4DCA-2146-442C-B760-CCCDB1790FBE}">
      <dsp:nvSpPr>
        <dsp:cNvPr id="0" name=""/>
        <dsp:cNvSpPr/>
      </dsp:nvSpPr>
      <dsp:spPr>
        <a:xfrm>
          <a:off x="704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1</a:t>
          </a:r>
        </a:p>
      </dsp:txBody>
      <dsp:txXfrm rot="16200000">
        <a:off x="-1187639" y="1321261"/>
        <a:ext cx="2982986" cy="606297"/>
      </dsp:txXfrm>
    </dsp:sp>
    <dsp:sp modelId="{64158EFB-6528-4F4E-9C6D-35547F41B135}">
      <dsp:nvSpPr>
        <dsp:cNvPr id="0" name=""/>
        <dsp:cNvSpPr/>
      </dsp:nvSpPr>
      <dsp:spPr>
        <a:xfrm>
          <a:off x="607002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PeptideRanker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1"/>
            </a:rPr>
            <a:t>http://distilldeep.ucd.ie/PeptideRanker/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ToxinPred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2"/>
            </a:rPr>
            <a:t>https://webs.iiitd.edu.in/raghava/toxinpred/index.html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AlgPred</a:t>
          </a:r>
          <a:r>
            <a:rPr lang="en-US" sz="2000" kern="1200" dirty="0"/>
            <a:t> 2.0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3"/>
            </a:rPr>
            <a:t>https://webs.iiitd.edu.in/raghava/algpred2/</a:t>
          </a:r>
          <a:endParaRPr lang="en-US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 err="1"/>
            <a:t>ADMETlab</a:t>
          </a:r>
          <a:r>
            <a:rPr lang="en-US" sz="2000" kern="1200" dirty="0"/>
            <a:t> 2.0 </a:t>
          </a:r>
          <a:r>
            <a:rPr lang="en-US" sz="1000" kern="1200" dirty="0">
              <a:hlinkClick xmlns:r="http://schemas.openxmlformats.org/officeDocument/2006/relationships" r:id="rId4"/>
            </a:rPr>
            <a:t>https://admet.scbdd.com/home/index/</a:t>
          </a:r>
          <a:r>
            <a:rPr lang="en-US" sz="2000" kern="1200" dirty="0"/>
            <a:t> /</a:t>
          </a:r>
          <a:r>
            <a:rPr lang="en-US" sz="2000" kern="1200" dirty="0" err="1"/>
            <a:t>admetSAR</a:t>
          </a:r>
          <a:r>
            <a:rPr lang="en-US" sz="200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kern="1200" dirty="0">
              <a:hlinkClick xmlns:r="http://schemas.openxmlformats.org/officeDocument/2006/relationships" r:id="rId5"/>
            </a:rPr>
            <a:t>https://lmmd.ecust.edu.cn/admetsar1/home/</a:t>
          </a:r>
          <a:endParaRPr lang="en-US" sz="1000" kern="1200" dirty="0"/>
        </a:p>
      </dsp:txBody>
      <dsp:txXfrm>
        <a:off x="607002" y="132917"/>
        <a:ext cx="2258459" cy="3637787"/>
      </dsp:txXfrm>
    </dsp:sp>
    <dsp:sp modelId="{3C6C1BC6-ADA8-4565-8876-8D44807575AB}">
      <dsp:nvSpPr>
        <dsp:cNvPr id="0" name=""/>
        <dsp:cNvSpPr/>
      </dsp:nvSpPr>
      <dsp:spPr>
        <a:xfrm>
          <a:off x="3138296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2</a:t>
          </a:r>
        </a:p>
      </dsp:txBody>
      <dsp:txXfrm rot="16200000">
        <a:off x="1949952" y="1321261"/>
        <a:ext cx="2982986" cy="606297"/>
      </dsp:txXfrm>
    </dsp:sp>
    <dsp:sp modelId="{812E100A-B4D0-463F-9319-DE763AC06855}">
      <dsp:nvSpPr>
        <dsp:cNvPr id="0" name=""/>
        <dsp:cNvSpPr/>
      </dsp:nvSpPr>
      <dsp:spPr>
        <a:xfrm rot="5400000">
          <a:off x="2886059" y="3025155"/>
          <a:ext cx="534788" cy="45472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B191B-18B3-472A-946D-0959DB22D32D}">
      <dsp:nvSpPr>
        <dsp:cNvPr id="0" name=""/>
        <dsp:cNvSpPr/>
      </dsp:nvSpPr>
      <dsp:spPr>
        <a:xfrm>
          <a:off x="3744594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UniDL4BioPep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6"/>
            </a:rPr>
            <a:t>https://nepc2pvmzy.us-east-1.awsapprunner.com/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CBBL-SKKU peptide prediction tools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7"/>
            </a:rPr>
            <a:t>https://balalab-skku.org/peptidebased/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CSM-peptides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8"/>
            </a:rPr>
            <a:t>https://biosig.lab.uq.edu.au/csm_peptides/</a:t>
          </a:r>
          <a:endParaRPr lang="en-US" sz="1000" b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pLM4ACE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hlinkClick xmlns:r="http://schemas.openxmlformats.org/officeDocument/2006/relationships" r:id="rId9"/>
            </a:rPr>
            <a:t>https://sqzujiduce.us-east-1.awsapprunner.com/</a:t>
          </a:r>
          <a:endParaRPr lang="en-US" sz="1000" b="0" i="0" kern="1200" dirty="0"/>
        </a:p>
      </dsp:txBody>
      <dsp:txXfrm>
        <a:off x="3744594" y="132917"/>
        <a:ext cx="2258459" cy="3637787"/>
      </dsp:txXfrm>
    </dsp:sp>
    <dsp:sp modelId="{CD00EFF7-5A40-4127-9CD5-4BA2DBCC2C93}">
      <dsp:nvSpPr>
        <dsp:cNvPr id="0" name=""/>
        <dsp:cNvSpPr/>
      </dsp:nvSpPr>
      <dsp:spPr>
        <a:xfrm>
          <a:off x="6275888" y="132917"/>
          <a:ext cx="3031489" cy="3637787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Step 3</a:t>
          </a:r>
        </a:p>
      </dsp:txBody>
      <dsp:txXfrm rot="16200000">
        <a:off x="5087544" y="1321261"/>
        <a:ext cx="2982986" cy="606297"/>
      </dsp:txXfrm>
    </dsp:sp>
    <dsp:sp modelId="{6EC5D91F-5D54-44E3-ACD9-F40BC956A006}">
      <dsp:nvSpPr>
        <dsp:cNvPr id="0" name=""/>
        <dsp:cNvSpPr/>
      </dsp:nvSpPr>
      <dsp:spPr>
        <a:xfrm rot="5400000">
          <a:off x="6023651" y="3025155"/>
          <a:ext cx="534788" cy="45472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3EA6D-2E16-4DFB-BA00-C2C3CBDE06E5}">
      <dsp:nvSpPr>
        <dsp:cNvPr id="0" name=""/>
        <dsp:cNvSpPr/>
      </dsp:nvSpPr>
      <dsp:spPr>
        <a:xfrm>
          <a:off x="6882186" y="132917"/>
          <a:ext cx="2258459" cy="36377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HDOCK/</a:t>
          </a:r>
          <a:r>
            <a:rPr lang="en-US" sz="1800" kern="1200" dirty="0" err="1"/>
            <a:t>PyMol</a:t>
          </a:r>
          <a:r>
            <a:rPr lang="en-US" sz="1800" kern="1200" dirty="0"/>
            <a:t>/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AutoDockVina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PDB/AlphaFold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ChemDraw</a:t>
          </a:r>
          <a:r>
            <a:rPr lang="en-US" sz="1800" kern="1200" dirty="0"/>
            <a:t>/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PepDraw</a:t>
          </a:r>
          <a:r>
            <a:rPr lang="en-US" sz="1800" kern="1200" dirty="0"/>
            <a:t>/</a:t>
          </a:r>
          <a:r>
            <a:rPr lang="en-US" sz="1800" kern="1200" dirty="0" err="1"/>
            <a:t>MolDraw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LigPlot</a:t>
          </a:r>
          <a:endParaRPr lang="en-US" sz="1800" kern="1200" dirty="0"/>
        </a:p>
      </dsp:txBody>
      <dsp:txXfrm>
        <a:off x="6882186" y="132917"/>
        <a:ext cx="2258459" cy="3637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61FD0-677C-4576-8107-AB6088489B6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10483-2DD3-4E72-BCD4-0D1B54777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7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objectives of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CC4C1-B308-4204-A153-3548DC794B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3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10483-2DD3-4E72-BCD4-0D1B547771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10483-2DD3-4E72-BCD4-0D1B547771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6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10483-2DD3-4E72-BCD4-0D1B547771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9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1A32-F306-F738-5D37-83A5FA7F9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A2654-9B6C-0003-A3D5-A154BF21D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2525-C222-7B74-9CA5-D934D4B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868F-7B77-4234-9B4B-1481A796E1C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4BB14-B326-038A-9F5E-CCE4357A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68A50-2327-7F62-1FB5-0D12A297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5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D1FB-275B-BD2B-1E01-0E02C605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0A6E1-5E4F-9BDE-715F-832D3446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26E5-67D8-2B73-DA95-0A540B6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05D48-9B3D-4934-927B-758578EC6E2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FF05-4D7C-5671-07B8-83329193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07C35-9911-28F2-FBE7-E11B21AF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6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3073-CE35-F371-2E79-5D20B568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722B9-1289-5791-F89E-C6168F9F8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BDFE5-B2FB-4F22-92BD-D70F83D6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AEEA-D1B1-40BD-A3FE-E3C0672033F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E580-7FEB-0BA2-DF32-DC30F9B3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89282-9613-405A-8CCA-A0E24DF2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9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FD3D-8F87-7905-20BC-A530DE8D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6C714-1B4B-2731-B58E-51653A398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5680A-5D5D-D043-CE67-0489D0437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31904-F1F5-E351-3C68-A8E8671C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C7D4-9CBA-4A7D-8ADD-4397AB4B9F18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89179-EFE6-1A67-8218-52A6542C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2D01E-9D3C-1C73-71A6-940D7A8B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8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3346-B148-434D-ACED-73CE8762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5F623-11FC-CE50-4110-32FB680E3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6F2D-6F44-975F-41D0-1DD0164CE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12FAF-02C6-A975-196F-D75BC606C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7A243-19F5-CD8F-1053-B93A0B9AA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5A609-0D4F-D0FF-DDDC-0EFBDBC8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44A2-CCF6-4B85-94C2-AF1071623A5B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2A4D1-2FC1-0280-C996-C6A18F38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77FA4-C626-D8FD-CF0D-EE226D55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3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7DAE-0CC2-AA36-E9B8-91BAC4AF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11458-D689-7EBB-BDAF-F5A33806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B02B-10BF-4374-9235-C736DA01609B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988D1-8377-F19E-1136-B47B2F9A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F9DD2-E167-211F-23E5-7BF381FF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1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04BCA-709C-C2FE-F9AC-EE712630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19B2-CE9D-41D9-B372-6746771DD714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4C167-C46F-5C55-6B9E-5ABB7225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2F690-0641-DD96-7060-54ED3EB6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7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B27A-3FB2-BD8E-99DE-A76E7818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2158-9F3D-BF80-D77C-EB66B8F14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6F618-0466-DA5B-C026-8CDC69DBC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6FF4-5385-EB68-A4A9-1A1141D9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76C9-D7F8-4BDB-9957-6D9C860DAA33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B6F5F-EE27-855A-7073-2BFAC6E3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D7D6F-BA15-266B-B60A-83AB930C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9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354E-B189-755A-7FA7-096D599DF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51314-1B7E-608F-0B07-10F408CA0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D36CF-5EFA-B5DC-74E7-3371ED285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9671F-35B3-12E8-B7D0-5925F02B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3866-06AC-4B39-8D85-DADAE823492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BA5C9-39E4-A7E1-EB2D-67FF59CD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CC55F-763A-FEB7-690E-0B048CA1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2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A6DA-915F-99D7-7349-2218CBE0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CE853-379D-C0FB-D4F0-C7C467B37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495CD-3605-4EAE-1588-1E8AC863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6F0B-0BFE-4E29-B858-CA5D80EFD7C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24BD-7236-90CE-E017-17696BBC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40C52-8810-B670-AF41-8A6CA3C1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3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97F82-214F-3A70-173D-DE5931CED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2F09E-7BA5-91D5-9117-8D6582B4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CC452-73C2-ED28-8A9F-A12C5146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FF1A-5747-4AC1-A7B3-F7AF1B713DE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CBAD9-5B3B-7B31-E8F3-3F954F07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DB24-9B3E-1034-30EE-8C7A1E40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26985-1185-E9AF-1ADE-E2108944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F295F-AD08-ED0E-5A96-A7DCE7CD8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BFDD-B256-BB0A-F29C-9170911D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2FA47-666A-4155-9D40-F3AB1AEA4582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F2B6-231C-2DD8-A9A5-5D0CCE929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D4A2A-3AAF-0A32-E0AB-52AFC451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EB63C-3B96-46BF-894C-431CAC04C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1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biotech-pack.com/peptidomic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xpasy.org/protpara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s.iiitd.edu.in/raghava/hlp/" TargetMode="External"/><Relationship Id="rId4" Type="http://schemas.openxmlformats.org/officeDocument/2006/relationships/hyperlink" Target="https://pmlab.pythonanywhere.com/BERT4Bitt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ioware.ucd.ie/~enzpred/Enzpred.php" TargetMode="External"/><Relationship Id="rId2" Type="http://schemas.openxmlformats.org/officeDocument/2006/relationships/hyperlink" Target="https://biochemia.uwm.edu.pl/biopep/rec_pro1.php?x=98&amp;y=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spector.ucsf.edu/prospector/html/instruct/digestman.htm" TargetMode="External"/><Relationship Id="rId2" Type="http://schemas.openxmlformats.org/officeDocument/2006/relationships/hyperlink" Target="https://web.expasy.org/peptide_cutt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bioware.ucd.ie/peptigra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F25FBBB-6BA9-4BD7-B278-C62C576E8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5" y="5599981"/>
            <a:ext cx="1800225" cy="11715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9FE24E1-D1D7-4D5A-8D1F-843F1EEF1543}"/>
              </a:ext>
            </a:extLst>
          </p:cNvPr>
          <p:cNvGrpSpPr/>
          <p:nvPr/>
        </p:nvGrpSpPr>
        <p:grpSpPr>
          <a:xfrm>
            <a:off x="485663" y="1"/>
            <a:ext cx="11706337" cy="5352496"/>
            <a:chOff x="485663" y="0"/>
            <a:chExt cx="11706337" cy="51163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DF7E988-B258-47D3-AFBA-42951E2A1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663" y="0"/>
              <a:ext cx="9147434" cy="511636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FB34C54-8BDD-49E8-AE3D-0FF06E687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4566" y="0"/>
              <a:ext cx="9147434" cy="5116361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7D2E278-BBB6-4A4C-8B2B-9E8DECEBEC51}"/>
              </a:ext>
            </a:extLst>
          </p:cNvPr>
          <p:cNvSpPr txBox="1"/>
          <p:nvPr/>
        </p:nvSpPr>
        <p:spPr>
          <a:xfrm>
            <a:off x="504684" y="3407250"/>
            <a:ext cx="8048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ALESSANDRA MARIE ENCARNACION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98AAA-0C3B-4D31-A334-FA503A2154B8}"/>
              </a:ext>
            </a:extLst>
          </p:cNvPr>
          <p:cNvSpPr txBox="1"/>
          <p:nvPr/>
        </p:nvSpPr>
        <p:spPr>
          <a:xfrm>
            <a:off x="504684" y="3712837"/>
            <a:ext cx="8048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RC2 – Center for Food Chemistry and Technology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0D69B0-87BC-4EA3-918D-F180A4BEB43B}"/>
              </a:ext>
            </a:extLst>
          </p:cNvPr>
          <p:cNvSpPr txBox="1"/>
          <p:nvPr/>
        </p:nvSpPr>
        <p:spPr>
          <a:xfrm>
            <a:off x="494051" y="4038066"/>
            <a:ext cx="8048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Ghent University Global Campus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EC42F8-B619-46BD-8AFB-DA4BC6AADB50}"/>
              </a:ext>
            </a:extLst>
          </p:cNvPr>
          <p:cNvSpPr txBox="1"/>
          <p:nvPr/>
        </p:nvSpPr>
        <p:spPr>
          <a:xfrm>
            <a:off x="615056" y="954170"/>
            <a:ext cx="116022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w Cen MT Condensed Extra Bold" panose="020B0803020202020204" pitchFamily="34" charset="0"/>
                <a:cs typeface="Arial" panose="020B0604020202020204" pitchFamily="34" charset="0"/>
              </a:rPr>
              <a:t>Exploring </a:t>
            </a:r>
            <a:r>
              <a:rPr lang="en-US" sz="4400" dirty="0" err="1">
                <a:solidFill>
                  <a:schemeClr val="bg1"/>
                </a:solidFill>
                <a:latin typeface="Tw Cen MT Condensed Extra Bold" panose="020B0803020202020204" pitchFamily="34" charset="0"/>
                <a:cs typeface="Arial" panose="020B0604020202020204" pitchFamily="34" charset="0"/>
              </a:rPr>
              <a:t>Cheonggukjang</a:t>
            </a:r>
            <a:r>
              <a:rPr lang="en-US" sz="4400" dirty="0">
                <a:solidFill>
                  <a:schemeClr val="bg1"/>
                </a:solidFill>
                <a:latin typeface="Tw Cen MT Condensed Extra Bold" panose="020B0803020202020204" pitchFamily="34" charset="0"/>
                <a:cs typeface="Arial" panose="020B0604020202020204" pitchFamily="34" charset="0"/>
              </a:rPr>
              <a:t> (CGJ) for Next-Generation Functional Foods: A synergy of artificial intelligence (AI) and experimental approaches</a:t>
            </a:r>
            <a:endParaRPr lang="en-US" sz="4400" i="1" dirty="0">
              <a:solidFill>
                <a:schemeClr val="bg1"/>
              </a:solidFill>
              <a:latin typeface="Tw Cen MT Condensed Extra Bold" panose="020B08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2F078-2227-437D-A353-AF94DBD3CD50}"/>
              </a:ext>
            </a:extLst>
          </p:cNvPr>
          <p:cNvSpPr txBox="1"/>
          <p:nvPr/>
        </p:nvSpPr>
        <p:spPr>
          <a:xfrm>
            <a:off x="679467" y="4343653"/>
            <a:ext cx="5892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Promoter: </a:t>
            </a:r>
            <a:r>
              <a:rPr lang="en-US" sz="2000" dirty="0" err="1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Mahta</a:t>
            </a:r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 Mirzaei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2F271-6389-49B5-ABD7-8AD767E2FF5F}"/>
              </a:ext>
            </a:extLst>
          </p:cNvPr>
          <p:cNvSpPr txBox="1"/>
          <p:nvPr/>
        </p:nvSpPr>
        <p:spPr>
          <a:xfrm>
            <a:off x="663948" y="4649240"/>
            <a:ext cx="5892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Co-Promoter: Wesley De Neve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4B324-B337-CEF8-6865-B0B3E39950C5}"/>
              </a:ext>
            </a:extLst>
          </p:cNvPr>
          <p:cNvSpPr txBox="1"/>
          <p:nvPr/>
        </p:nvSpPr>
        <p:spPr>
          <a:xfrm>
            <a:off x="674943" y="4905337"/>
            <a:ext cx="5892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Co-Promoter: </a:t>
            </a:r>
            <a:r>
              <a:rPr lang="en-US" sz="2000" dirty="0" err="1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Katleen</a:t>
            </a:r>
            <a:r>
              <a:rPr lang="en-US" sz="2000" dirty="0">
                <a:solidFill>
                  <a:schemeClr val="bg1"/>
                </a:solidFill>
                <a:latin typeface="Tw Cen MT Condensed" panose="020B0606020104020203" pitchFamily="34" charset="0"/>
                <a:cs typeface="Arial" panose="020B0604020202020204" pitchFamily="34" charset="0"/>
              </a:rPr>
              <a:t> Raes</a:t>
            </a:r>
          </a:p>
        </p:txBody>
      </p:sp>
    </p:spTree>
    <p:extLst>
      <p:ext uri="{BB962C8B-B14F-4D97-AF65-F5344CB8AC3E}">
        <p14:creationId xmlns:p14="http://schemas.microsoft.com/office/powerpoint/2010/main" val="128191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EBDF92B7-0072-831B-D430-419B57766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920" y="2081555"/>
            <a:ext cx="5425729" cy="3312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85BD7C-9CA9-466C-B070-9F77C0C6D0F2}"/>
              </a:ext>
            </a:extLst>
          </p:cNvPr>
          <p:cNvSpPr txBox="1"/>
          <p:nvPr/>
        </p:nvSpPr>
        <p:spPr>
          <a:xfrm>
            <a:off x="148346" y="100694"/>
            <a:ext cx="4066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467C8"/>
                </a:solidFill>
                <a:latin typeface="Franklin Gothic Demi Cond" panose="020B07060304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0164F8-88B3-4EFF-83B5-D3D1249A2CFA}"/>
              </a:ext>
            </a:extLst>
          </p:cNvPr>
          <p:cNvGrpSpPr/>
          <p:nvPr/>
        </p:nvGrpSpPr>
        <p:grpSpPr>
          <a:xfrm>
            <a:off x="4431956" y="165463"/>
            <a:ext cx="7755802" cy="1137126"/>
            <a:chOff x="485663" y="0"/>
            <a:chExt cx="11706337" cy="511636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0CC128F-E6B9-41AB-81C0-AFDAA0DA7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5663" y="0"/>
              <a:ext cx="9147434" cy="511636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392CAEB-55BF-430A-A385-188C45DE2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4566" y="0"/>
              <a:ext cx="9147434" cy="5116361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3A1AC13-FB29-44C0-B59F-7DFD2F2F7D6D}"/>
              </a:ext>
            </a:extLst>
          </p:cNvPr>
          <p:cNvSpPr txBox="1"/>
          <p:nvPr/>
        </p:nvSpPr>
        <p:spPr>
          <a:xfrm>
            <a:off x="5106347" y="410860"/>
            <a:ext cx="6734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indent="-271463" algn="r"/>
            <a:r>
              <a:rPr lang="en-US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Cheonggukjang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(CGJ)</a:t>
            </a:r>
            <a:endParaRPr lang="en-PH" sz="2800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B1940-8818-ED2E-C4B2-ECA4285A9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  <p:pic>
        <p:nvPicPr>
          <p:cNvPr id="6" name="Picture 5" descr="A bowl of food next to soybeans&#10;&#10;AI-generated content may be incorrect.">
            <a:extLst>
              <a:ext uri="{FF2B5EF4-FFF2-40B4-BE49-F238E27FC236}">
                <a16:creationId xmlns:a16="http://schemas.microsoft.com/office/drawing/2014/main" id="{44E988ED-D40E-7154-DE77-8697F6868C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73" y="796916"/>
            <a:ext cx="3974150" cy="325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DC918A-3962-BDCC-70F2-3324AAAC6995}"/>
              </a:ext>
            </a:extLst>
          </p:cNvPr>
          <p:cNvSpPr txBox="1"/>
          <p:nvPr/>
        </p:nvSpPr>
        <p:spPr>
          <a:xfrm>
            <a:off x="196065" y="4054416"/>
            <a:ext cx="3054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https://onsabo.daesang.co.kr:8443/article/442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124101-0E85-7169-73DC-3407DCD63FF7}"/>
              </a:ext>
            </a:extLst>
          </p:cNvPr>
          <p:cNvSpPr txBox="1"/>
          <p:nvPr/>
        </p:nvSpPr>
        <p:spPr>
          <a:xfrm>
            <a:off x="4666686" y="1394550"/>
            <a:ext cx="724821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Korean fermented soybean paste; no salt used during fermentation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Fermented by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Bacillus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 in protein and peptides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C004B4-5535-0189-D8B4-D4501D14F2FC}"/>
              </a:ext>
            </a:extLst>
          </p:cNvPr>
          <p:cNvSpPr txBox="1"/>
          <p:nvPr/>
        </p:nvSpPr>
        <p:spPr>
          <a:xfrm>
            <a:off x="107861" y="4994994"/>
            <a:ext cx="553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food matrix, 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non-specific and variable hydrolysis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47D1-98B2-073A-31C6-2368E7DE3986}"/>
              </a:ext>
            </a:extLst>
          </p:cNvPr>
          <p:cNvSpPr txBox="1"/>
          <p:nvPr/>
        </p:nvSpPr>
        <p:spPr>
          <a:xfrm>
            <a:off x="5106347" y="5125387"/>
            <a:ext cx="665331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(WP2 &amp; 4):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combine AI and experimental approaches to isolate bioactive peptide(s) with the purpose of acting as a functional food ingredient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994B938-6391-74D0-B9A5-83E021F7B214}"/>
              </a:ext>
            </a:extLst>
          </p:cNvPr>
          <p:cNvSpPr/>
          <p:nvPr/>
        </p:nvSpPr>
        <p:spPr>
          <a:xfrm>
            <a:off x="2627183" y="5781947"/>
            <a:ext cx="388189" cy="21997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558373-7F5A-E84A-E856-9CA0E49AE2DC}"/>
              </a:ext>
            </a:extLst>
          </p:cNvPr>
          <p:cNvSpPr txBox="1"/>
          <p:nvPr/>
        </p:nvSpPr>
        <p:spPr>
          <a:xfrm>
            <a:off x="1372270" y="6057248"/>
            <a:ext cx="2898016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of reproducibility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1A437-EA76-2550-48FD-4996A0622832}"/>
              </a:ext>
            </a:extLst>
          </p:cNvPr>
          <p:cNvSpPr txBox="1"/>
          <p:nvPr/>
        </p:nvSpPr>
        <p:spPr>
          <a:xfrm>
            <a:off x="395489" y="4452554"/>
            <a:ext cx="724821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WP2 and WP4-related Objective: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C2826-9AA4-A90D-DF4E-C9C5F63EFF95}"/>
              </a:ext>
            </a:extLst>
          </p:cNvPr>
          <p:cNvSpPr txBox="1"/>
          <p:nvPr/>
        </p:nvSpPr>
        <p:spPr>
          <a:xfrm>
            <a:off x="432341" y="4795454"/>
            <a:ext cx="133806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(Challenge)</a:t>
            </a:r>
          </a:p>
        </p:txBody>
      </p:sp>
    </p:spTree>
    <p:extLst>
      <p:ext uri="{BB962C8B-B14F-4D97-AF65-F5344CB8AC3E}">
        <p14:creationId xmlns:p14="http://schemas.microsoft.com/office/powerpoint/2010/main" val="314490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9" grpId="0"/>
      <p:bldP spid="10" grpId="0"/>
      <p:bldP spid="12" grpId="0" animBg="1"/>
      <p:bldP spid="13" grpId="0"/>
      <p:bldP spid="14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33EDEB6-53F2-A321-BF31-CD2EE279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47" y="70111"/>
            <a:ext cx="11418404" cy="109378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Exploring </a:t>
            </a:r>
            <a:r>
              <a:rPr lang="en-US" sz="2400" b="1" dirty="0" err="1">
                <a:latin typeface="Franklin Gothic Medium" panose="020B0603020102020204" pitchFamily="34" charset="0"/>
              </a:rPr>
              <a:t>Cheonggukjang</a:t>
            </a:r>
            <a:r>
              <a:rPr lang="en-US" sz="2400" b="1" dirty="0">
                <a:latin typeface="Franklin Gothic Medium" panose="020B0603020102020204" pitchFamily="34" charset="0"/>
              </a:rPr>
              <a:t> (CGJ) for Next-Generation Functional Foods: </a:t>
            </a:r>
            <a:br>
              <a:rPr lang="en-US" sz="2400" b="1" dirty="0">
                <a:latin typeface="Franklin Gothic Medium" panose="020B0603020102020204" pitchFamily="34" charset="0"/>
              </a:rPr>
            </a:br>
            <a:r>
              <a:rPr lang="en-US" sz="2400" dirty="0">
                <a:latin typeface="Franklin Gothic Medium" panose="020B0603020102020204" pitchFamily="34" charset="0"/>
              </a:rPr>
              <a:t>A synergy of artificial intelligence (AI) and experimental approaches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3E041DB-78FD-B06A-6A97-B3238011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58CCCC-C998-4BF0-2B7B-B0D8068DD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  <p:pic>
        <p:nvPicPr>
          <p:cNvPr id="3" name="Picture 2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586F0AF6-26EE-276D-D2A4-2050A1402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06" y="1008121"/>
            <a:ext cx="10970245" cy="53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WP2: </a:t>
            </a:r>
            <a:r>
              <a:rPr lang="en-US" sz="2400" dirty="0"/>
              <a:t>Identification of bioactive peptides present in CGJ product(s)with the highest activity through proteomics analysis.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7" y="2035834"/>
            <a:ext cx="10956985" cy="43448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2-1. </a:t>
            </a:r>
            <a:r>
              <a:rPr lang="en-US" sz="2000" dirty="0"/>
              <a:t>LC/MS-MS analysis of CGJ extract(s) for </a:t>
            </a:r>
            <a:r>
              <a:rPr lang="en-US" sz="2000" b="1" dirty="0"/>
              <a:t>identification of peptide sequences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Task 2-2. </a:t>
            </a:r>
            <a:r>
              <a:rPr lang="en-US" sz="2000" dirty="0"/>
              <a:t>Analysis of peptide sequences for </a:t>
            </a:r>
            <a:r>
              <a:rPr lang="en-US" sz="2000" b="1" dirty="0"/>
              <a:t>physicochemical properties 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Task 2-3. In silico </a:t>
            </a:r>
            <a:r>
              <a:rPr lang="en-US" sz="2000" dirty="0"/>
              <a:t>study for </a:t>
            </a:r>
            <a:r>
              <a:rPr lang="en-US" sz="2000" b="1" dirty="0"/>
              <a:t>screening</a:t>
            </a:r>
            <a:r>
              <a:rPr lang="en-US" sz="2000" dirty="0"/>
              <a:t> of peptides with potential desirable bioactivity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6F2A542-E30D-A607-AF05-C34E3DCED540}"/>
              </a:ext>
            </a:extLst>
          </p:cNvPr>
          <p:cNvSpPr/>
          <p:nvPr/>
        </p:nvSpPr>
        <p:spPr>
          <a:xfrm>
            <a:off x="5721470" y="2705789"/>
            <a:ext cx="457200" cy="60384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3A9AB6C-4EBB-6026-7589-24032BEE1758}"/>
              </a:ext>
            </a:extLst>
          </p:cNvPr>
          <p:cNvSpPr/>
          <p:nvPr/>
        </p:nvSpPr>
        <p:spPr>
          <a:xfrm>
            <a:off x="5715719" y="4367871"/>
            <a:ext cx="457200" cy="60384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22B27-5164-A892-D960-5E72CCC4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9429AF-B0DF-319E-2DFE-359341B59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1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WP2: </a:t>
            </a:r>
            <a:r>
              <a:rPr lang="en-US" sz="2400" dirty="0"/>
              <a:t>Identification of bioactive peptides present in CGJ product(s)with the highest activity through proteomics analysis.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94" y="1601337"/>
            <a:ext cx="11059064" cy="477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2-1. </a:t>
            </a:r>
            <a:r>
              <a:rPr lang="en-US" sz="2000" dirty="0"/>
              <a:t>LC/MS-MS analysis of CGJ extract(s) for identification of </a:t>
            </a:r>
            <a:r>
              <a:rPr lang="en-US" sz="2000" b="1" dirty="0"/>
              <a:t>peptide sequences</a:t>
            </a:r>
          </a:p>
          <a:p>
            <a:r>
              <a:rPr lang="en-US" sz="2000" dirty="0"/>
              <a:t>Biotech Park Scientific </a:t>
            </a:r>
            <a:r>
              <a:rPr lang="en-US" sz="2000" dirty="0">
                <a:hlinkClick r:id="rId2"/>
              </a:rPr>
              <a:t>https://en.biotech-pack.com/peptidomics.html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1800" dirty="0"/>
              <a:t>Peptide Identification via Database search–based and De novo sequencing </a:t>
            </a:r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Yonsei University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800" dirty="0"/>
              <a:t>Uses LC-QE (</a:t>
            </a:r>
            <a:r>
              <a:rPr lang="en-US" sz="1800" dirty="0" err="1"/>
              <a:t>ThermoFischer</a:t>
            </a:r>
            <a:r>
              <a:rPr lang="en-US" sz="1800" dirty="0"/>
              <a:t>) for sample analysis</a:t>
            </a:r>
          </a:p>
          <a:p>
            <a:pPr lvl="1">
              <a:buFontTx/>
              <a:buChar char="-"/>
            </a:pPr>
            <a:r>
              <a:rPr lang="en-US" sz="1800" dirty="0"/>
              <a:t>Uses Proteome Discoverer for </a:t>
            </a:r>
            <a:r>
              <a:rPr lang="en-US" sz="1800" dirty="0" err="1"/>
              <a:t>peptidomics</a:t>
            </a:r>
            <a:r>
              <a:rPr lang="en-US" sz="1800" dirty="0"/>
              <a:t>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FCB0C-BDD5-A3AE-DF66-11FE950E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B3937-9338-1A19-98FE-551FD0EC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6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9542E8-9BB2-493D-4A06-E9B2B21D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WP2: </a:t>
            </a:r>
            <a:r>
              <a:rPr lang="en-US" sz="2400" dirty="0"/>
              <a:t>Identification of bioactive peptides present in CGJ product(s)with the highest activity through proteomics analysis.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4" y="1431983"/>
            <a:ext cx="10956985" cy="5201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2-2. </a:t>
            </a:r>
            <a:r>
              <a:rPr lang="en-US" sz="2000" dirty="0"/>
              <a:t>Analysis of peptide sequences for </a:t>
            </a:r>
            <a:r>
              <a:rPr lang="en-US" sz="2000" b="1" dirty="0"/>
              <a:t>physicochemical properties </a:t>
            </a:r>
          </a:p>
          <a:p>
            <a:pPr marL="342900" indent="-342900">
              <a:buAutoNum type="arabicPeriod"/>
            </a:pPr>
            <a:r>
              <a:rPr lang="en-US" sz="1600" b="1" dirty="0" err="1"/>
              <a:t>Expasy</a:t>
            </a:r>
            <a:r>
              <a:rPr lang="en-US" sz="1600" b="1" dirty="0"/>
              <a:t> Server-</a:t>
            </a:r>
            <a:r>
              <a:rPr lang="en-US" sz="1600" b="1" dirty="0" err="1"/>
              <a:t>ProtParam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2</a:t>
            </a:r>
            <a:r>
              <a:rPr lang="en-US" sz="1600" dirty="0"/>
              <a:t>. </a:t>
            </a:r>
            <a:r>
              <a:rPr lang="en-US" sz="1600" b="1" dirty="0" err="1"/>
              <a:t>NovoPro</a:t>
            </a:r>
            <a:r>
              <a:rPr lang="en-US" sz="1600" b="1" dirty="0"/>
              <a:t> Peptide Property Calculator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dirty="0"/>
              <a:t>3. BERT4Bitter</a:t>
            </a: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5D19AB-C7E0-9A81-CFC7-B0E0BDFD6A94}"/>
              </a:ext>
            </a:extLst>
          </p:cNvPr>
          <p:cNvSpPr txBox="1">
            <a:spLocks/>
          </p:cNvSpPr>
          <p:nvPr/>
        </p:nvSpPr>
        <p:spPr>
          <a:xfrm>
            <a:off x="838199" y="2142866"/>
            <a:ext cx="10956985" cy="1834089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MW</a:t>
            </a:r>
          </a:p>
          <a:p>
            <a:r>
              <a:rPr lang="en-US" sz="1600" dirty="0"/>
              <a:t>theoretical </a:t>
            </a:r>
            <a:r>
              <a:rPr lang="en-US" sz="1600" dirty="0" err="1"/>
              <a:t>pI</a:t>
            </a:r>
            <a:endParaRPr lang="en-US" sz="1600" dirty="0"/>
          </a:p>
          <a:p>
            <a:r>
              <a:rPr lang="en-US" sz="1600" dirty="0"/>
              <a:t>amino acid composition</a:t>
            </a:r>
          </a:p>
          <a:p>
            <a:r>
              <a:rPr lang="en-US" sz="1600" dirty="0"/>
              <a:t>atomic composition</a:t>
            </a:r>
          </a:p>
          <a:p>
            <a:r>
              <a:rPr lang="en-US" sz="1600" dirty="0"/>
              <a:t>extinction coefficient</a:t>
            </a:r>
          </a:p>
          <a:p>
            <a:r>
              <a:rPr lang="en-US" sz="1600" dirty="0"/>
              <a:t>estimated half-life</a:t>
            </a:r>
          </a:p>
          <a:p>
            <a:r>
              <a:rPr lang="en-US" sz="1600" dirty="0"/>
              <a:t>instability index</a:t>
            </a:r>
          </a:p>
          <a:p>
            <a:r>
              <a:rPr lang="en-US" sz="1600" dirty="0"/>
              <a:t>aliphatic index</a:t>
            </a:r>
          </a:p>
          <a:p>
            <a:r>
              <a:rPr lang="en-US" sz="1600" dirty="0"/>
              <a:t>grand average of hydropathicity (GRAVY)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31F670-953B-9FD6-AC5F-EA86882DCC00}"/>
              </a:ext>
            </a:extLst>
          </p:cNvPr>
          <p:cNvSpPr txBox="1">
            <a:spLocks/>
          </p:cNvSpPr>
          <p:nvPr/>
        </p:nvSpPr>
        <p:spPr>
          <a:xfrm>
            <a:off x="838197" y="4271341"/>
            <a:ext cx="10956985" cy="1043155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Chemical formula</a:t>
            </a:r>
          </a:p>
          <a:p>
            <a:r>
              <a:rPr lang="en-US" sz="1600" dirty="0"/>
              <a:t>Molecular weight</a:t>
            </a:r>
          </a:p>
          <a:p>
            <a:r>
              <a:rPr lang="en-US" sz="1600" dirty="0"/>
              <a:t>Extinction coefficient</a:t>
            </a:r>
          </a:p>
          <a:p>
            <a:r>
              <a:rPr lang="en-US" sz="1600" dirty="0"/>
              <a:t>Net charge at neutral pH</a:t>
            </a:r>
          </a:p>
          <a:p>
            <a:r>
              <a:rPr lang="en-US" sz="1600" dirty="0" err="1"/>
              <a:t>pI</a:t>
            </a:r>
            <a:endParaRPr lang="en-US" sz="1600" dirty="0"/>
          </a:p>
          <a:p>
            <a:r>
              <a:rPr lang="en-US" sz="1600" dirty="0"/>
              <a:t>GRAVY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BFF1B9-A8EA-EF9E-5CD3-117ACB155077}"/>
              </a:ext>
            </a:extLst>
          </p:cNvPr>
          <p:cNvSpPr txBox="1">
            <a:spLocks/>
          </p:cNvSpPr>
          <p:nvPr/>
        </p:nvSpPr>
        <p:spPr>
          <a:xfrm>
            <a:off x="845433" y="5495757"/>
            <a:ext cx="10956985" cy="1043155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Bitterness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9BA5DF-4AAE-38EC-7CC6-0188367F8775}"/>
              </a:ext>
            </a:extLst>
          </p:cNvPr>
          <p:cNvSpPr txBox="1">
            <a:spLocks/>
          </p:cNvSpPr>
          <p:nvPr/>
        </p:nvSpPr>
        <p:spPr>
          <a:xfrm>
            <a:off x="6077309" y="5271850"/>
            <a:ext cx="957533" cy="3018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4. HLP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00" dirty="0">
              <a:latin typeface="Aptos" panose="020B000402020202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AFD86A-B33D-2213-EFD7-848FBEC25154}"/>
              </a:ext>
            </a:extLst>
          </p:cNvPr>
          <p:cNvSpPr txBox="1">
            <a:spLocks/>
          </p:cNvSpPr>
          <p:nvPr/>
        </p:nvSpPr>
        <p:spPr>
          <a:xfrm>
            <a:off x="6250014" y="5570782"/>
            <a:ext cx="4123428" cy="47381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Half-life in intestine-like environment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8B7F5C8-9E45-CA0A-22E2-E2A5E7BD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63692-5632-74E5-3BBE-81F205B26FAE}"/>
              </a:ext>
            </a:extLst>
          </p:cNvPr>
          <p:cNvSpPr txBox="1"/>
          <p:nvPr/>
        </p:nvSpPr>
        <p:spPr>
          <a:xfrm>
            <a:off x="3202733" y="1871949"/>
            <a:ext cx="60945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  <a:hlinkClick r:id="rId3"/>
              </a:rPr>
              <a:t>https://web.expasy.org/protparam/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4BF97-8BB8-F575-93E7-411A1AB1B615}"/>
              </a:ext>
            </a:extLst>
          </p:cNvPr>
          <p:cNvSpPr txBox="1"/>
          <p:nvPr/>
        </p:nvSpPr>
        <p:spPr>
          <a:xfrm>
            <a:off x="4097004" y="3958701"/>
            <a:ext cx="60945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https://www.novoprolabs.com/tools/calc_peptide_property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A0482-B00E-D4D0-B133-9A55EC6941E7}"/>
              </a:ext>
            </a:extLst>
          </p:cNvPr>
          <p:cNvSpPr txBox="1"/>
          <p:nvPr/>
        </p:nvSpPr>
        <p:spPr>
          <a:xfrm>
            <a:off x="1813704" y="5263388"/>
            <a:ext cx="60945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  <a:hlinkClick r:id="rId4"/>
              </a:rPr>
              <a:t>https://pmlab.pythonanywhere.com/BERT4Bitter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A38EC-F9B5-34F7-0AA7-06217BD6A3FA}"/>
              </a:ext>
            </a:extLst>
          </p:cNvPr>
          <p:cNvSpPr txBox="1"/>
          <p:nvPr/>
        </p:nvSpPr>
        <p:spPr>
          <a:xfrm>
            <a:off x="6722136" y="5297277"/>
            <a:ext cx="2534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  <a:hlinkClick r:id="rId5"/>
              </a:rPr>
              <a:t>https://webs.iiitd.edu.in/raghava/hlp/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9343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WP2: </a:t>
            </a:r>
            <a:r>
              <a:rPr lang="en-US" sz="2400" dirty="0"/>
              <a:t>Identification of bioactive peptides present in CGJ product(s)with the highest activity through proteomics analysis.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95" y="1419693"/>
            <a:ext cx="10956985" cy="4667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2-3. </a:t>
            </a:r>
            <a:r>
              <a:rPr lang="en-US" sz="2000" dirty="0"/>
              <a:t>In silico study for </a:t>
            </a:r>
            <a:r>
              <a:rPr lang="en-US" sz="2000" b="1" dirty="0"/>
              <a:t>screening of peptides </a:t>
            </a:r>
            <a:r>
              <a:rPr lang="en-US" sz="2000" dirty="0"/>
              <a:t>with potential desirable bioactivity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841947D-3CD7-2CC8-641D-17E3395D98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0935268"/>
              </p:ext>
            </p:extLst>
          </p:nvPr>
        </p:nvGraphicFramePr>
        <p:xfrm>
          <a:off x="1423267" y="1884854"/>
          <a:ext cx="9308083" cy="390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F38681-F468-87C5-6947-0127029EBE28}"/>
              </a:ext>
            </a:extLst>
          </p:cNvPr>
          <p:cNvSpPr txBox="1">
            <a:spLocks/>
          </p:cNvSpPr>
          <p:nvPr/>
        </p:nvSpPr>
        <p:spPr>
          <a:xfrm>
            <a:off x="1764814" y="5803872"/>
            <a:ext cx="2091946" cy="3556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Initial Screening</a:t>
            </a:r>
            <a:endParaRPr lang="en-US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12E87F-C3DA-F033-A323-A2214CF284F7}"/>
              </a:ext>
            </a:extLst>
          </p:cNvPr>
          <p:cNvSpPr txBox="1">
            <a:spLocks/>
          </p:cNvSpPr>
          <p:nvPr/>
        </p:nvSpPr>
        <p:spPr>
          <a:xfrm>
            <a:off x="4354068" y="5788477"/>
            <a:ext cx="3483863" cy="355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Bioactivity-specific Screening</a:t>
            </a:r>
            <a:endParaRPr lang="en-US" sz="16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EAFFE1-FA71-7EB2-B342-1E82B099BD1A}"/>
              </a:ext>
            </a:extLst>
          </p:cNvPr>
          <p:cNvSpPr txBox="1">
            <a:spLocks/>
          </p:cNvSpPr>
          <p:nvPr/>
        </p:nvSpPr>
        <p:spPr>
          <a:xfrm>
            <a:off x="8165530" y="5788476"/>
            <a:ext cx="2261656" cy="3556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2000" dirty="0"/>
              <a:t>Molecular Docking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6859E-0EEB-B400-A4D8-3418D18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6099-C661-584A-5189-992850023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2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D8D21-C853-B0D9-59C0-6624FDA8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7649A-177B-5651-2645-83B07EFF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19" y="227025"/>
            <a:ext cx="6411220" cy="3972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6F35C3-9F5B-778D-5B9F-A336E6B5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676" y="3429000"/>
            <a:ext cx="5714052" cy="293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6622BB-7B85-0A47-7FCD-43E69B86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E96CF-BAD0-90A1-9F43-0C6C9BB0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589"/>
            <a:ext cx="6498272" cy="4617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D296E6-A672-67B9-161E-9B4891BA2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03" y="1041589"/>
            <a:ext cx="5852097" cy="461733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FA31AF1-2264-8024-1A72-46C8A5A68A16}"/>
              </a:ext>
            </a:extLst>
          </p:cNvPr>
          <p:cNvSpPr txBox="1">
            <a:spLocks/>
          </p:cNvSpPr>
          <p:nvPr/>
        </p:nvSpPr>
        <p:spPr>
          <a:xfrm>
            <a:off x="215660" y="365125"/>
            <a:ext cx="117232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2400" b="1" dirty="0"/>
              <a:t>UniDL4BioPep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72086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WP2: </a:t>
            </a:r>
            <a:r>
              <a:rPr lang="en-US" sz="2400" dirty="0"/>
              <a:t>Identification of bioactive peptides present in CGJ product(s)with the highest activity through proteomics analysis.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95" y="1419693"/>
            <a:ext cx="10956985" cy="4667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2-3. </a:t>
            </a:r>
            <a:r>
              <a:rPr lang="en-US" sz="2000" dirty="0"/>
              <a:t>In silico study for screening of peptides with potential desirable bioactivity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841947D-3CD7-2CC8-641D-17E3395D9802}"/>
              </a:ext>
            </a:extLst>
          </p:cNvPr>
          <p:cNvGraphicFramePr/>
          <p:nvPr/>
        </p:nvGraphicFramePr>
        <p:xfrm>
          <a:off x="1423267" y="1884854"/>
          <a:ext cx="9308083" cy="390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F38681-F468-87C5-6947-0127029EBE28}"/>
              </a:ext>
            </a:extLst>
          </p:cNvPr>
          <p:cNvSpPr txBox="1">
            <a:spLocks/>
          </p:cNvSpPr>
          <p:nvPr/>
        </p:nvSpPr>
        <p:spPr>
          <a:xfrm>
            <a:off x="1764814" y="5803872"/>
            <a:ext cx="2091946" cy="3556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Initial Screening</a:t>
            </a:r>
            <a:endParaRPr lang="en-US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12E87F-C3DA-F033-A323-A2214CF284F7}"/>
              </a:ext>
            </a:extLst>
          </p:cNvPr>
          <p:cNvSpPr txBox="1">
            <a:spLocks/>
          </p:cNvSpPr>
          <p:nvPr/>
        </p:nvSpPr>
        <p:spPr>
          <a:xfrm>
            <a:off x="4354068" y="5788477"/>
            <a:ext cx="3483863" cy="355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Bioactivity-specific Screening</a:t>
            </a:r>
            <a:endParaRPr lang="en-US" sz="16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EAFFE1-FA71-7EB2-B342-1E82B099BD1A}"/>
              </a:ext>
            </a:extLst>
          </p:cNvPr>
          <p:cNvSpPr txBox="1">
            <a:spLocks/>
          </p:cNvSpPr>
          <p:nvPr/>
        </p:nvSpPr>
        <p:spPr>
          <a:xfrm>
            <a:off x="8165530" y="5788476"/>
            <a:ext cx="2261656" cy="3556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2000" dirty="0"/>
              <a:t>Molecular Docking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6859E-0EEB-B400-A4D8-3418D18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6099-C661-584A-5189-992850023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06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28" y="270324"/>
            <a:ext cx="11542144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WP4: </a:t>
            </a:r>
            <a:r>
              <a:rPr lang="en-US" sz="2400" dirty="0"/>
              <a:t>Development of an AI-driven enzymatic hydrolysis process for the production of bioactive peptides identified in WP3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97" y="1924591"/>
            <a:ext cx="10921041" cy="423808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/>
              <a:t>Task 4-1. </a:t>
            </a:r>
            <a:r>
              <a:rPr lang="en-US" sz="2000" dirty="0"/>
              <a:t>Evaluation of various </a:t>
            </a:r>
            <a:r>
              <a:rPr lang="en-US" sz="2000" b="1" dirty="0"/>
              <a:t>protein sources </a:t>
            </a:r>
            <a:r>
              <a:rPr lang="en-US" sz="2000" dirty="0"/>
              <a:t>to identify those containing the target peptides selected in WP3</a:t>
            </a:r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2000" b="1" dirty="0"/>
              <a:t>Task 4-2</a:t>
            </a:r>
            <a:r>
              <a:rPr lang="en-US" sz="2000" dirty="0"/>
              <a:t>. Selection of </a:t>
            </a:r>
            <a:r>
              <a:rPr lang="en-US" sz="2000" b="1" dirty="0"/>
              <a:t>specific enzymes </a:t>
            </a:r>
            <a:r>
              <a:rPr lang="en-US" sz="2000" dirty="0"/>
              <a:t>capable of efficiently releasing the desired peptides from the chosen protein sources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Task 4-3. </a:t>
            </a:r>
            <a:r>
              <a:rPr lang="en-US" sz="2000" i="1" dirty="0"/>
              <a:t>In vitro </a:t>
            </a:r>
            <a:r>
              <a:rPr lang="en-US" sz="2000" dirty="0"/>
              <a:t>enzyme hydrolysis process using the protein sources and enzymes selected in Tasks 4-1 and 4-2.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E573C1C-81BC-3CC0-39F8-68E9325151EA}"/>
              </a:ext>
            </a:extLst>
          </p:cNvPr>
          <p:cNvSpPr/>
          <p:nvPr/>
        </p:nvSpPr>
        <p:spPr>
          <a:xfrm>
            <a:off x="5668092" y="2825151"/>
            <a:ext cx="457200" cy="60384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A5A3-D369-E45E-6272-802F0E2F7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1C381-01AC-BED4-D995-32F71A807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51A1BD02-A4A7-FDB7-DD8D-0726BF8A7C4E}"/>
              </a:ext>
            </a:extLst>
          </p:cNvPr>
          <p:cNvSpPr/>
          <p:nvPr/>
        </p:nvSpPr>
        <p:spPr>
          <a:xfrm>
            <a:off x="5668092" y="4522847"/>
            <a:ext cx="457200" cy="60384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6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76C29B-20E4-99E7-58EB-386A651D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0" y="227965"/>
            <a:ext cx="11534380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WP4: </a:t>
            </a:r>
            <a:r>
              <a:rPr lang="en-US" sz="2400" dirty="0"/>
              <a:t>Development of an AI-driven enzymatic hydrolysis process for the production of bioactive peptides identified in WP3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94" y="1344803"/>
            <a:ext cx="11377725" cy="5011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4-1. </a:t>
            </a:r>
            <a:r>
              <a:rPr lang="en-US" sz="2000" dirty="0"/>
              <a:t>Evaluation of various protein sources to identify those containing the target peptides selected in WP3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Method 1:  MS analysis software (PEAKS Studio, Proteome Discoverer, etc.) </a:t>
            </a:r>
          </a:p>
          <a:p>
            <a:pPr>
              <a:buFontTx/>
              <a:buChar char="-"/>
            </a:pPr>
            <a:r>
              <a:rPr lang="en-US" sz="2000" dirty="0"/>
              <a:t>Peptide mapping soybean proteome using peptide mass spectra; </a:t>
            </a:r>
          </a:p>
          <a:p>
            <a:pPr>
              <a:buFontTx/>
              <a:buChar char="-"/>
            </a:pPr>
            <a:r>
              <a:rPr lang="en-US" sz="2000" dirty="0"/>
              <a:t>parameter: non-specific enzyme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2: NCBI-BLAST tool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- Align peptides with soybean proteome database</a:t>
            </a: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Method 3: MS-DIAL, FBMN and </a:t>
            </a:r>
            <a:r>
              <a:rPr lang="en-US" sz="2000" i="1" dirty="0" err="1"/>
              <a:t>Cytoscape</a:t>
            </a:r>
            <a:endParaRPr lang="en-US" sz="2000" i="1" dirty="0"/>
          </a:p>
          <a:p>
            <a:pPr marL="0" indent="0">
              <a:buNone/>
            </a:pPr>
            <a:r>
              <a:rPr lang="en-US" sz="2000" dirty="0"/>
              <a:t>- Perform a differential analysis between fermented and non-fermented soybean (like Zhang et. Al., 2025) to determine protein sources by comparing upregulated peptides and soybean proteins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AD609-FBB4-F1C4-50E6-7D738C4B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8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WP4: </a:t>
            </a:r>
            <a:r>
              <a:rPr lang="en-US" sz="2400" dirty="0"/>
              <a:t>Development of an AI-driven enzymatic hydrolysis process for the production of bioactive peptides identified in WP3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0" y="1509623"/>
            <a:ext cx="10956985" cy="4667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 4-2. </a:t>
            </a:r>
            <a:r>
              <a:rPr lang="en-US" sz="2000" dirty="0"/>
              <a:t>Selection of specific enzymes capable of efficiently releasing the desired peptides from the chosen protein sources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Method 1: BIOPEP-UVM Analysis </a:t>
            </a:r>
            <a:r>
              <a:rPr lang="en-US" sz="1000" i="1" dirty="0">
                <a:hlinkClick r:id="rId2"/>
              </a:rPr>
              <a:t>https://biochemia.uwm.edu.pl/biopep/rec_pro1.php?x=98&amp;y=2</a:t>
            </a:r>
            <a:r>
              <a:rPr lang="en-US" sz="1000" i="1" dirty="0"/>
              <a:t> </a:t>
            </a:r>
          </a:p>
          <a:p>
            <a:pPr>
              <a:buFontTx/>
              <a:buChar char="-"/>
            </a:pPr>
            <a:r>
              <a:rPr lang="en-US" sz="2000" dirty="0"/>
              <a:t>Finds the enzyme for peptide release given a specified protein source</a:t>
            </a:r>
          </a:p>
          <a:p>
            <a:pPr>
              <a:buFontTx/>
              <a:buChar char="-"/>
            </a:pPr>
            <a:r>
              <a:rPr lang="en-US" sz="2000" dirty="0"/>
              <a:t>Input: peptide and protein sequences in </a:t>
            </a:r>
            <a:r>
              <a:rPr lang="en-US" sz="2000" dirty="0" err="1"/>
              <a:t>fasta</a:t>
            </a:r>
            <a:r>
              <a:rPr lang="en-US" sz="2000" dirty="0"/>
              <a:t> format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Method 2: </a:t>
            </a:r>
            <a:r>
              <a:rPr lang="en-US" sz="2000" i="1" dirty="0" err="1"/>
              <a:t>EnzymePredictor</a:t>
            </a:r>
            <a:r>
              <a:rPr lang="en-US" sz="2000" i="1" dirty="0"/>
              <a:t> </a:t>
            </a:r>
            <a:r>
              <a:rPr lang="en-US" sz="1000" i="1" dirty="0">
                <a:hlinkClick r:id="rId3"/>
              </a:rPr>
              <a:t>http://bioware.ucd.ie/~enzpred/Enzpred.php</a:t>
            </a:r>
            <a:r>
              <a:rPr lang="en-US" sz="1000" i="1" dirty="0"/>
              <a:t> </a:t>
            </a:r>
          </a:p>
          <a:p>
            <a:pPr marL="0" indent="0">
              <a:buNone/>
            </a:pPr>
            <a:r>
              <a:rPr lang="en-US" sz="2000" i="1" dirty="0"/>
              <a:t>- Similar to </a:t>
            </a:r>
            <a:r>
              <a:rPr lang="en-US" sz="2000" i="1" dirty="0" err="1"/>
              <a:t>Biopep</a:t>
            </a:r>
            <a:r>
              <a:rPr lang="en-US" sz="2000" i="1" dirty="0"/>
              <a:t>-UVM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4D5E1-4FF2-7C03-8417-F52711A7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6F76B-377E-6E0A-D920-D60448B26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04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A293-C140-0DA8-8851-1CCE9172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01467-8063-5435-1FB6-8C0C0846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20E3B-800C-607C-F29F-03CFEC6CF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657"/>
            <a:ext cx="12192000" cy="600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99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355A5-A78A-A9C5-A3B1-CE4D3428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09138-10F9-10AB-F012-F259FF7A9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7" b="12467"/>
          <a:stretch/>
        </p:blipFill>
        <p:spPr>
          <a:xfrm>
            <a:off x="0" y="3560658"/>
            <a:ext cx="12192000" cy="743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B6BDA9-6DFC-152A-96F0-B2215E434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2" y="827996"/>
            <a:ext cx="12192000" cy="24693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EB357F-3B6D-2A36-7F9A-29F48638B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280" b="12467"/>
          <a:stretch/>
        </p:blipFill>
        <p:spPr>
          <a:xfrm>
            <a:off x="777456" y="4458941"/>
            <a:ext cx="10214394" cy="144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72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4B95-BC93-E48F-0FC7-5C430F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11723298" cy="1325563"/>
          </a:xfrm>
        </p:spPr>
        <p:txBody>
          <a:bodyPr>
            <a:noAutofit/>
          </a:bodyPr>
          <a:lstStyle/>
          <a:p>
            <a:r>
              <a:rPr lang="en-US" sz="2400" b="1" dirty="0"/>
              <a:t>WP4: </a:t>
            </a:r>
            <a:r>
              <a:rPr lang="en-US" sz="2400" dirty="0"/>
              <a:t>Development of an AI-driven enzymatic hydrolysis process for the production of bioactive peptides identified in WP3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8793-8BFF-DE0A-046C-ECC280F4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0" y="1509623"/>
            <a:ext cx="10956985" cy="46673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en-US" sz="2000" dirty="0"/>
              <a:t>Other computational tools we could use to validate the AI-driven enzymatic hydrolysis: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 err="1"/>
              <a:t>PeptideCutter</a:t>
            </a:r>
            <a:r>
              <a:rPr lang="en-US" sz="2000" dirty="0"/>
              <a:t> </a:t>
            </a:r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  <a:hlinkClick r:id="rId2"/>
              </a:rPr>
              <a:t>https://web.expasy.org/peptide_cutter/</a:t>
            </a:r>
            <a:endParaRPr lang="en-US" sz="1000" dirty="0"/>
          </a:p>
          <a:p>
            <a:pPr lvl="1"/>
            <a:r>
              <a:rPr lang="en-US" sz="1600" dirty="0"/>
              <a:t>Predicts potential cleavage sites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MS-Digest </a:t>
            </a:r>
            <a:r>
              <a:rPr lang="en-US" sz="1050" dirty="0">
                <a:hlinkClick r:id="rId3"/>
              </a:rPr>
              <a:t>https://prospector.ucsf.edu/prospector/html/instruct/digestman.htm</a:t>
            </a:r>
            <a:r>
              <a:rPr lang="en-US" sz="1050" dirty="0"/>
              <a:t> </a:t>
            </a:r>
          </a:p>
          <a:p>
            <a:pPr lvl="1"/>
            <a:r>
              <a:rPr lang="en-US" sz="1600" dirty="0"/>
              <a:t>Performs an </a:t>
            </a:r>
            <a:r>
              <a:rPr lang="en-US" sz="1600" i="1" dirty="0"/>
              <a:t>in silico</a:t>
            </a:r>
            <a:r>
              <a:rPr lang="en-US" sz="1600" dirty="0"/>
              <a:t> enzymatic digest of one or more proteins and reports the mass of each predicted peptide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Peptigram</a:t>
            </a:r>
            <a:r>
              <a:rPr lang="en-US" sz="2000" dirty="0"/>
              <a:t> </a:t>
            </a:r>
            <a:r>
              <a:rPr lang="en-US" sz="10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  <a:hlinkClick r:id="rId4"/>
              </a:rPr>
              <a:t>http://bioware.ucd.ie/peptigram/</a:t>
            </a:r>
            <a:endParaRPr lang="en-US" sz="1000" dirty="0"/>
          </a:p>
          <a:p>
            <a:pPr lvl="1"/>
            <a:r>
              <a:rPr lang="en-US" sz="1600" dirty="0"/>
              <a:t> Creates a peptide profile map and peptide alignment map</a:t>
            </a:r>
          </a:p>
          <a:p>
            <a:pPr marL="457200" indent="-457200">
              <a:buAutoNum type="arabicPeriod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4A11-94B2-3334-4242-CABE311B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EB63C-3B96-46BF-894C-431CAC04C7B5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B5312-7E22-9A04-D876-63432AB39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47" y="5981700"/>
            <a:ext cx="1191784" cy="7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1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8C26-2B5D-1CB6-580B-DACE4984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CD108B1-F7E1-B9CC-D81B-7517E635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5" y="5599981"/>
            <a:ext cx="1800225" cy="11715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7911326-25D2-1A79-2C89-FC3187A21603}"/>
              </a:ext>
            </a:extLst>
          </p:cNvPr>
          <p:cNvGrpSpPr/>
          <p:nvPr/>
        </p:nvGrpSpPr>
        <p:grpSpPr>
          <a:xfrm>
            <a:off x="485663" y="551334"/>
            <a:ext cx="11706337" cy="3417993"/>
            <a:chOff x="485663" y="0"/>
            <a:chExt cx="11706337" cy="51163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826E4C1-387A-8BC1-06A2-34B300F41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663" y="0"/>
              <a:ext cx="9147434" cy="511636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9FCC81-BA1C-2EC0-4EC8-91AE1E9FC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4566" y="0"/>
              <a:ext cx="9147434" cy="5116361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3E4AA29-C856-A1F3-B151-86D9E1066C6B}"/>
              </a:ext>
            </a:extLst>
          </p:cNvPr>
          <p:cNvSpPr txBox="1"/>
          <p:nvPr/>
        </p:nvSpPr>
        <p:spPr>
          <a:xfrm>
            <a:off x="760529" y="3044279"/>
            <a:ext cx="116022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w Cen MT Condensed Extra Bold" panose="020B0803020202020204" pitchFamily="34" charset="0"/>
                <a:cs typeface="Arial" panose="020B0604020202020204" pitchFamily="34" charset="0"/>
              </a:rPr>
              <a:t>Thank you for listening! </a:t>
            </a:r>
            <a:r>
              <a:rPr lang="en-US" sz="4400" dirty="0">
                <a:solidFill>
                  <a:schemeClr val="bg1"/>
                </a:solidFill>
                <a:latin typeface="Tw Cen MT Condensed Extra Bold" panose="020B0803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US" sz="4400" dirty="0">
              <a:solidFill>
                <a:schemeClr val="bg1"/>
              </a:solidFill>
              <a:latin typeface="Tw Cen MT Condensed Extra Bold" panose="020B08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4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A156DB-1F62-41A1-852F-5CA8DE39C2CD}">
  <we:reference id="wa200006038" version="1.0.0.5" store="en-US" storeType="OMEX"/>
  <we:alternateReferences>
    <we:reference id="wa200006038" version="1.0.0.5" store="" storeType="OMEX"/>
  </we:alternateReferences>
  <we:properties>
    <we:property name="has-user-completed-add" value="true"/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12610</TotalTime>
  <Words>1248</Words>
  <Application>Microsoft Office PowerPoint</Application>
  <PresentationFormat>Widescreen</PresentationFormat>
  <Paragraphs>208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Franklin Gothic Demi Cond</vt:lpstr>
      <vt:lpstr>Franklin Gothic Medium</vt:lpstr>
      <vt:lpstr>Tw Cen MT Condensed</vt:lpstr>
      <vt:lpstr>Tw Cen MT Condensed Extra Bold</vt:lpstr>
      <vt:lpstr>Office Theme</vt:lpstr>
      <vt:lpstr>PowerPoint Presentation</vt:lpstr>
      <vt:lpstr>PowerPoint Presentation</vt:lpstr>
      <vt:lpstr>Exploring Cheonggukjang (CGJ) for Next-Generation Functional Foods:  A synergy of artificial intelligence (AI) and experimental approaches</vt:lpstr>
      <vt:lpstr>WP2: Identification of bioactive peptides present in CGJ product(s)with the highest activity through proteomics analysis. </vt:lpstr>
      <vt:lpstr>WP2: Identification of bioactive peptides present in CGJ product(s)with the highest activity through proteomics analysis. </vt:lpstr>
      <vt:lpstr>WP2: Identification of bioactive peptides present in CGJ product(s)with the highest activity through proteomics analysis. </vt:lpstr>
      <vt:lpstr>WP2: Identification of bioactive peptides present in CGJ product(s)with the highest activity through proteomics analysis. </vt:lpstr>
      <vt:lpstr>PowerPoint Presentation</vt:lpstr>
      <vt:lpstr>PowerPoint Presentation</vt:lpstr>
      <vt:lpstr>WP2: Identification of bioactive peptides present in CGJ product(s)with the highest activity through proteomics analysis. </vt:lpstr>
      <vt:lpstr>WP4: Development of an AI-driven enzymatic hydrolysis process for the production of bioactive peptides identified in WP3</vt:lpstr>
      <vt:lpstr>WP4: Development of an AI-driven enzymatic hydrolysis process for the production of bioactive peptides identified in WP3</vt:lpstr>
      <vt:lpstr>WP4: Development of an AI-driven enzymatic hydrolysis process for the production of bioactive peptides identified in WP3</vt:lpstr>
      <vt:lpstr>PowerPoint Presentation</vt:lpstr>
      <vt:lpstr>PowerPoint Presentation</vt:lpstr>
      <vt:lpstr>WP4: Development of an AI-driven enzymatic hydrolysis process for the production of bioactive peptides identified in WP3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Alessandra Marie Encarnacion</dc:creator>
  <cp:lastModifiedBy>Alessandra Marie Encarnacion</cp:lastModifiedBy>
  <cp:revision>82</cp:revision>
  <dcterms:created xsi:type="dcterms:W3CDTF">2025-10-28T03:14:56Z</dcterms:created>
  <dcterms:modified xsi:type="dcterms:W3CDTF">2025-11-19T09:24:47Z</dcterms:modified>
</cp:coreProperties>
</file>